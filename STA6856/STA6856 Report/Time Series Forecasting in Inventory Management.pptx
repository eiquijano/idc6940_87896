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3"/>
  </p:notesMasterIdLst>
  <p:handoutMasterIdLst>
    <p:handoutMasterId r:id="rId24"/>
  </p:handoutMasterIdLst>
  <p:sldIdLst>
    <p:sldId id="256" r:id="rId5"/>
    <p:sldId id="270" r:id="rId6"/>
    <p:sldId id="273" r:id="rId7"/>
    <p:sldId id="281" r:id="rId8"/>
    <p:sldId id="275" r:id="rId9"/>
    <p:sldId id="276" r:id="rId10"/>
    <p:sldId id="286" r:id="rId11"/>
    <p:sldId id="287" r:id="rId12"/>
    <p:sldId id="292" r:id="rId13"/>
    <p:sldId id="291" r:id="rId14"/>
    <p:sldId id="285" r:id="rId15"/>
    <p:sldId id="288" r:id="rId16"/>
    <p:sldId id="284" r:id="rId17"/>
    <p:sldId id="289" r:id="rId18"/>
    <p:sldId id="293" r:id="rId19"/>
    <p:sldId id="277" r:id="rId20"/>
    <p:sldId id="280" r:id="rId21"/>
    <p:sldId id="26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3FD253-0AFD-47BE-B6EA-628F2EF76867}" v="1833" dt="2025-12-11T01:37:24.9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10" autoAdjust="0"/>
    <p:restoredTop sz="59169" autoAdjust="0"/>
  </p:normalViewPr>
  <p:slideViewPr>
    <p:cSldViewPr snapToGrid="0">
      <p:cViewPr varScale="1">
        <p:scale>
          <a:sx n="79" d="100"/>
          <a:sy n="79" d="100"/>
        </p:scale>
        <p:origin x="144" y="29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win Quijano" userId="c2699e8b2c00c081" providerId="LiveId" clId="{8CDF0835-D350-43E8-B73A-FDD913FB5576}"/>
    <pc:docChg chg="undo custSel addSld delSld modSld sldOrd">
      <pc:chgData name="Edwin Quijano" userId="c2699e8b2c00c081" providerId="LiveId" clId="{8CDF0835-D350-43E8-B73A-FDD913FB5576}" dt="2025-12-11T01:33:01.520" v="1734" actId="1076"/>
      <pc:docMkLst>
        <pc:docMk/>
      </pc:docMkLst>
      <pc:sldChg chg="addSp delSp modSp mod delDesignElem modNotesTx">
        <pc:chgData name="Edwin Quijano" userId="c2699e8b2c00c081" providerId="LiveId" clId="{8CDF0835-D350-43E8-B73A-FDD913FB5576}" dt="2025-12-10T00:01:23.274" v="1673" actId="20577"/>
        <pc:sldMkLst>
          <pc:docMk/>
          <pc:sldMk cId="193000927" sldId="256"/>
        </pc:sldMkLst>
        <pc:spChg chg="mod">
          <ac:chgData name="Edwin Quijano" userId="c2699e8b2c00c081" providerId="LiveId" clId="{8CDF0835-D350-43E8-B73A-FDD913FB5576}" dt="2025-12-09T17:36:28.432" v="576" actId="14100"/>
          <ac:spMkLst>
            <pc:docMk/>
            <pc:sldMk cId="193000927" sldId="256"/>
            <ac:spMk id="2" creationId="{3D30D32A-359B-41BB-9746-2CF3A21EEFFC}"/>
          </ac:spMkLst>
        </pc:spChg>
        <pc:spChg chg="mod">
          <ac:chgData name="Edwin Quijano" userId="c2699e8b2c00c081" providerId="LiveId" clId="{8CDF0835-D350-43E8-B73A-FDD913FB5576}" dt="2025-12-09T18:51:55.499" v="889" actId="20577"/>
          <ac:spMkLst>
            <pc:docMk/>
            <pc:sldMk cId="193000927" sldId="256"/>
            <ac:spMk id="3" creationId="{B4CA222A-88BC-48F4-9AE8-2115B7D1E6DC}"/>
          </ac:spMkLst>
        </pc:spChg>
        <pc:spChg chg="add mod">
          <ac:chgData name="Edwin Quijano" userId="c2699e8b2c00c081" providerId="LiveId" clId="{8CDF0835-D350-43E8-B73A-FDD913FB5576}" dt="2025-12-09T17:38:21.207" v="590" actId="255"/>
          <ac:spMkLst>
            <pc:docMk/>
            <pc:sldMk cId="193000927" sldId="256"/>
            <ac:spMk id="4" creationId="{2BDF4167-38BC-188F-5C59-FD7F4BB8CA53}"/>
          </ac:spMkLst>
        </pc:spChg>
        <pc:spChg chg="add mod">
          <ac:chgData name="Edwin Quijano" userId="c2699e8b2c00c081" providerId="LiveId" clId="{8CDF0835-D350-43E8-B73A-FDD913FB5576}" dt="2025-12-09T17:37:42.846" v="585" actId="113"/>
          <ac:spMkLst>
            <pc:docMk/>
            <pc:sldMk cId="193000927" sldId="256"/>
            <ac:spMk id="6" creationId="{669D27F3-8FE7-EE02-C966-8518AAC01E0E}"/>
          </ac:spMkLst>
        </pc:spChg>
        <pc:spChg chg="add mod">
          <ac:chgData name="Edwin Quijano" userId="c2699e8b2c00c081" providerId="LiveId" clId="{8CDF0835-D350-43E8-B73A-FDD913FB5576}" dt="2025-12-09T17:38:00.163" v="589" actId="1076"/>
          <ac:spMkLst>
            <pc:docMk/>
            <pc:sldMk cId="193000927" sldId="256"/>
            <ac:spMk id="7" creationId="{34823C1B-C412-DA73-0640-6850290B564B}"/>
          </ac:spMkLst>
        </pc:spChg>
        <pc:spChg chg="add del">
          <ac:chgData name="Edwin Quijano" userId="c2699e8b2c00c081" providerId="LiveId" clId="{8CDF0835-D350-43E8-B73A-FDD913FB5576}" dt="2025-12-09T17:31:46.218" v="538"/>
          <ac:spMkLst>
            <pc:docMk/>
            <pc:sldMk cId="193000927" sldId="256"/>
            <ac:spMk id="20" creationId="{318E9D62-7BA3-4D5E-8915-0D0E8661E3D7}"/>
          </ac:spMkLst>
        </pc:spChg>
        <pc:picChg chg="add del mod">
          <ac:chgData name="Edwin Quijano" userId="c2699e8b2c00c081" providerId="LiveId" clId="{8CDF0835-D350-43E8-B73A-FDD913FB5576}" dt="2025-12-09T18:50:30.539" v="848" actId="1076"/>
          <ac:picMkLst>
            <pc:docMk/>
            <pc:sldMk cId="193000927" sldId="256"/>
            <ac:picMk id="5" creationId="{A4511EBC-2F3C-446D-867B-7DC328517A44}"/>
          </ac:picMkLst>
        </pc:picChg>
      </pc:sldChg>
      <pc:sldChg chg="addSp delSp modSp delDesignElem">
        <pc:chgData name="Edwin Quijano" userId="c2699e8b2c00c081" providerId="LiveId" clId="{8CDF0835-D350-43E8-B73A-FDD913FB5576}" dt="2025-12-09T22:11:49.825" v="1018" actId="478"/>
        <pc:sldMkLst>
          <pc:docMk/>
          <pc:sldMk cId="510767980" sldId="267"/>
        </pc:sldMkLst>
        <pc:spChg chg="mod">
          <ac:chgData name="Edwin Quijano" userId="c2699e8b2c00c081" providerId="LiveId" clId="{8CDF0835-D350-43E8-B73A-FDD913FB5576}" dt="2025-12-09T17:31:46.218" v="538"/>
          <ac:spMkLst>
            <pc:docMk/>
            <pc:sldMk cId="510767980" sldId="267"/>
            <ac:spMk id="12" creationId="{970C361B-D32E-42E0-A41E-86C3D9AC886F}"/>
          </ac:spMkLst>
        </pc:spChg>
        <pc:spChg chg="add del">
          <ac:chgData name="Edwin Quijano" userId="c2699e8b2c00c081" providerId="LiveId" clId="{8CDF0835-D350-43E8-B73A-FDD913FB5576}" dt="2025-12-09T17:31:46.218" v="538"/>
          <ac:spMkLst>
            <pc:docMk/>
            <pc:sldMk cId="510767980" sldId="267"/>
            <ac:spMk id="57" creationId="{318E9D62-7BA3-4D5E-8915-0D0E8661E3D7}"/>
          </ac:spMkLst>
        </pc:spChg>
        <pc:picChg chg="add del mod">
          <ac:chgData name="Edwin Quijano" userId="c2699e8b2c00c081" providerId="LiveId" clId="{8CDF0835-D350-43E8-B73A-FDD913FB5576}" dt="2025-12-09T22:11:45.980" v="1017" actId="1076"/>
          <ac:picMkLst>
            <pc:docMk/>
            <pc:sldMk cId="510767980" sldId="267"/>
            <ac:picMk id="15" creationId="{6D363037-1741-4470-A023-883E2FFD5840}"/>
          </ac:picMkLst>
        </pc:picChg>
      </pc:sldChg>
      <pc:sldChg chg="addSp delSp modSp mod modClrScheme chgLayout modNotesTx">
        <pc:chgData name="Edwin Quijano" userId="c2699e8b2c00c081" providerId="LiveId" clId="{8CDF0835-D350-43E8-B73A-FDD913FB5576}" dt="2025-12-10T00:01:30.047" v="1676" actId="20577"/>
        <pc:sldMkLst>
          <pc:docMk/>
          <pc:sldMk cId="1173705732" sldId="270"/>
        </pc:sldMkLst>
        <pc:spChg chg="mod">
          <ac:chgData name="Edwin Quijano" userId="c2699e8b2c00c081" providerId="LiveId" clId="{8CDF0835-D350-43E8-B73A-FDD913FB5576}" dt="2025-12-09T17:31:46.218" v="538"/>
          <ac:spMkLst>
            <pc:docMk/>
            <pc:sldMk cId="1173705732" sldId="270"/>
            <ac:spMk id="2" creationId="{34D7282F-5788-664D-0909-AD4BB4847B88}"/>
          </ac:spMkLst>
        </pc:spChg>
        <pc:spChg chg="mod">
          <ac:chgData name="Edwin Quijano" userId="c2699e8b2c00c081" providerId="LiveId" clId="{8CDF0835-D350-43E8-B73A-FDD913FB5576}" dt="2025-12-09T23:09:14.393" v="1642" actId="20577"/>
          <ac:spMkLst>
            <pc:docMk/>
            <pc:sldMk cId="1173705732" sldId="270"/>
            <ac:spMk id="8" creationId="{1A02EFF4-8732-196F-B518-201C4B081530}"/>
          </ac:spMkLst>
        </pc:spChg>
      </pc:sldChg>
      <pc:sldChg chg="modSp modNotesTx">
        <pc:chgData name="Edwin Quijano" userId="c2699e8b2c00c081" providerId="LiveId" clId="{8CDF0835-D350-43E8-B73A-FDD913FB5576}" dt="2025-12-09T23:29:28.214" v="1661" actId="20577"/>
        <pc:sldMkLst>
          <pc:docMk/>
          <pc:sldMk cId="3522938932" sldId="273"/>
        </pc:sldMkLst>
        <pc:spChg chg="mod">
          <ac:chgData name="Edwin Quijano" userId="c2699e8b2c00c081" providerId="LiveId" clId="{8CDF0835-D350-43E8-B73A-FDD913FB5576}" dt="2025-12-09T17:31:46.218" v="538"/>
          <ac:spMkLst>
            <pc:docMk/>
            <pc:sldMk cId="3522938932" sldId="273"/>
            <ac:spMk id="2" creationId="{E9071E7D-3ED3-F11B-4E59-6591362002D5}"/>
          </ac:spMkLst>
        </pc:spChg>
        <pc:spChg chg="mod">
          <ac:chgData name="Edwin Quijano" userId="c2699e8b2c00c081" providerId="LiveId" clId="{8CDF0835-D350-43E8-B73A-FDD913FB5576}" dt="2025-12-09T17:31:46.218" v="538"/>
          <ac:spMkLst>
            <pc:docMk/>
            <pc:sldMk cId="3522938932" sldId="273"/>
            <ac:spMk id="3" creationId="{F21D162B-9CEE-3C3D-76FC-D344F8C27EF4}"/>
          </ac:spMkLst>
        </pc:spChg>
      </pc:sldChg>
      <pc:sldChg chg="addSp delSp modSp mod modNotesTx">
        <pc:chgData name="Edwin Quijano" userId="c2699e8b2c00c081" providerId="LiveId" clId="{8CDF0835-D350-43E8-B73A-FDD913FB5576}" dt="2025-12-09T23:21:03.951" v="1648" actId="20577"/>
        <pc:sldMkLst>
          <pc:docMk/>
          <pc:sldMk cId="1771003580" sldId="275"/>
        </pc:sldMkLst>
        <pc:spChg chg="mod">
          <ac:chgData name="Edwin Quijano" userId="c2699e8b2c00c081" providerId="LiveId" clId="{8CDF0835-D350-43E8-B73A-FDD913FB5576}" dt="2025-12-09T17:31:46.218" v="538"/>
          <ac:spMkLst>
            <pc:docMk/>
            <pc:sldMk cId="1771003580" sldId="275"/>
            <ac:spMk id="2" creationId="{464BFACA-1552-4E6F-17AD-EBCA3994FC7A}"/>
          </ac:spMkLst>
        </pc:spChg>
        <pc:spChg chg="add mod">
          <ac:chgData name="Edwin Quijano" userId="c2699e8b2c00c081" providerId="LiveId" clId="{8CDF0835-D350-43E8-B73A-FDD913FB5576}" dt="2025-12-09T18:47:00.565" v="835" actId="1076"/>
          <ac:spMkLst>
            <pc:docMk/>
            <pc:sldMk cId="1771003580" sldId="275"/>
            <ac:spMk id="6" creationId="{A1ECFB61-B65B-1D51-A71C-C5FDB2EF2FF1}"/>
          </ac:spMkLst>
        </pc:spChg>
        <pc:picChg chg="add mod">
          <ac:chgData name="Edwin Quijano" userId="c2699e8b2c00c081" providerId="LiveId" clId="{8CDF0835-D350-43E8-B73A-FDD913FB5576}" dt="2025-12-09T18:47:06.589" v="837" actId="14100"/>
          <ac:picMkLst>
            <pc:docMk/>
            <pc:sldMk cId="1771003580" sldId="275"/>
            <ac:picMk id="9" creationId="{6728AC5A-17B0-25D6-53E0-2663BB84A7C9}"/>
          </ac:picMkLst>
        </pc:picChg>
      </pc:sldChg>
      <pc:sldChg chg="addSp delSp modSp mod modNotesTx">
        <pc:chgData name="Edwin Quijano" userId="c2699e8b2c00c081" providerId="LiveId" clId="{8CDF0835-D350-43E8-B73A-FDD913FB5576}" dt="2025-12-09T23:31:08.896" v="1667" actId="20577"/>
        <pc:sldMkLst>
          <pc:docMk/>
          <pc:sldMk cId="1009042720" sldId="276"/>
        </pc:sldMkLst>
        <pc:spChg chg="mod">
          <ac:chgData name="Edwin Quijano" userId="c2699e8b2c00c081" providerId="LiveId" clId="{8CDF0835-D350-43E8-B73A-FDD913FB5576}" dt="2025-12-09T17:31:46.218" v="538"/>
          <ac:spMkLst>
            <pc:docMk/>
            <pc:sldMk cId="1009042720" sldId="276"/>
            <ac:spMk id="2" creationId="{4043A321-7114-53DB-F6F0-9898BB39A12F}"/>
          </ac:spMkLst>
        </pc:spChg>
        <pc:spChg chg="add mod">
          <ac:chgData name="Edwin Quijano" userId="c2699e8b2c00c081" providerId="LiveId" clId="{8CDF0835-D350-43E8-B73A-FDD913FB5576}" dt="2025-12-09T17:31:46.218" v="538"/>
          <ac:spMkLst>
            <pc:docMk/>
            <pc:sldMk cId="1009042720" sldId="276"/>
            <ac:spMk id="7" creationId="{ADC47091-A456-4B0E-E4F9-6263274FFAA0}"/>
          </ac:spMkLst>
        </pc:spChg>
        <pc:picChg chg="add mod">
          <ac:chgData name="Edwin Quijano" userId="c2699e8b2c00c081" providerId="LiveId" clId="{8CDF0835-D350-43E8-B73A-FDD913FB5576}" dt="2025-12-09T18:24:09.871" v="726" actId="1076"/>
          <ac:picMkLst>
            <pc:docMk/>
            <pc:sldMk cId="1009042720" sldId="276"/>
            <ac:picMk id="4" creationId="{3ECB1756-4367-86A9-7FCA-E2228093A6DE}"/>
          </ac:picMkLst>
        </pc:picChg>
        <pc:picChg chg="add mod">
          <ac:chgData name="Edwin Quijano" userId="c2699e8b2c00c081" providerId="LiveId" clId="{8CDF0835-D350-43E8-B73A-FDD913FB5576}" dt="2025-12-09T18:21:35.684" v="724" actId="1076"/>
          <ac:picMkLst>
            <pc:docMk/>
            <pc:sldMk cId="1009042720" sldId="276"/>
            <ac:picMk id="6" creationId="{516010F1-C994-69DC-5FB7-B1701B821F6D}"/>
          </ac:picMkLst>
        </pc:picChg>
      </pc:sldChg>
      <pc:sldChg chg="modSp">
        <pc:chgData name="Edwin Quijano" userId="c2699e8b2c00c081" providerId="LiveId" clId="{8CDF0835-D350-43E8-B73A-FDD913FB5576}" dt="2025-12-09T22:11:06.767" v="1013" actId="5793"/>
        <pc:sldMkLst>
          <pc:docMk/>
          <pc:sldMk cId="4058121544" sldId="277"/>
        </pc:sldMkLst>
        <pc:spChg chg="mod">
          <ac:chgData name="Edwin Quijano" userId="c2699e8b2c00c081" providerId="LiveId" clId="{8CDF0835-D350-43E8-B73A-FDD913FB5576}" dt="2025-12-09T17:31:46.218" v="538"/>
          <ac:spMkLst>
            <pc:docMk/>
            <pc:sldMk cId="4058121544" sldId="277"/>
            <ac:spMk id="2" creationId="{A56C4992-0A0F-D9F4-167F-227558999443}"/>
          </ac:spMkLst>
        </pc:spChg>
        <pc:spChg chg="mod">
          <ac:chgData name="Edwin Quijano" userId="c2699e8b2c00c081" providerId="LiveId" clId="{8CDF0835-D350-43E8-B73A-FDD913FB5576}" dt="2025-12-09T22:11:06.767" v="1013" actId="5793"/>
          <ac:spMkLst>
            <pc:docMk/>
            <pc:sldMk cId="4058121544" sldId="277"/>
            <ac:spMk id="3" creationId="{8EB3DE32-E192-A3DB-776D-4F82CC03D729}"/>
          </ac:spMkLst>
        </pc:spChg>
      </pc:sldChg>
      <pc:sldChg chg="addSp modSp mod modNotesTx">
        <pc:chgData name="Edwin Quijano" userId="c2699e8b2c00c081" providerId="LiveId" clId="{8CDF0835-D350-43E8-B73A-FDD913FB5576}" dt="2025-12-09T23:55:03.835" v="1671" actId="20577"/>
        <pc:sldMkLst>
          <pc:docMk/>
          <pc:sldMk cId="3473411963" sldId="280"/>
        </pc:sldMkLst>
        <pc:spChg chg="mod">
          <ac:chgData name="Edwin Quijano" userId="c2699e8b2c00c081" providerId="LiveId" clId="{8CDF0835-D350-43E8-B73A-FDD913FB5576}" dt="2025-12-09T17:31:46.218" v="538"/>
          <ac:spMkLst>
            <pc:docMk/>
            <pc:sldMk cId="3473411963" sldId="280"/>
            <ac:spMk id="2" creationId="{0B669A21-E046-C48B-038C-061A4EC10FBD}"/>
          </ac:spMkLst>
        </pc:spChg>
        <pc:spChg chg="mod">
          <ac:chgData name="Edwin Quijano" userId="c2699e8b2c00c081" providerId="LiveId" clId="{8CDF0835-D350-43E8-B73A-FDD913FB5576}" dt="2025-12-09T17:31:46.218" v="538"/>
          <ac:spMkLst>
            <pc:docMk/>
            <pc:sldMk cId="3473411963" sldId="280"/>
            <ac:spMk id="3" creationId="{30243462-FDF5-A30B-1FBF-AFC804D66634}"/>
          </ac:spMkLst>
        </pc:spChg>
        <pc:spChg chg="add">
          <ac:chgData name="Edwin Quijano" userId="c2699e8b2c00c081" providerId="LiveId" clId="{8CDF0835-D350-43E8-B73A-FDD913FB5576}" dt="2025-12-03T23:09:59.284" v="503"/>
          <ac:spMkLst>
            <pc:docMk/>
            <pc:sldMk cId="3473411963" sldId="280"/>
            <ac:spMk id="4" creationId="{E6CB378B-A4C4-726E-6037-1D5F15EAA6B3}"/>
          </ac:spMkLst>
        </pc:spChg>
      </pc:sldChg>
      <pc:sldChg chg="addSp delSp modSp mod modNotesTx">
        <pc:chgData name="Edwin Quijano" userId="c2699e8b2c00c081" providerId="LiveId" clId="{8CDF0835-D350-43E8-B73A-FDD913FB5576}" dt="2025-12-09T23:20:20.293" v="1645" actId="20577"/>
        <pc:sldMkLst>
          <pc:docMk/>
          <pc:sldMk cId="2723672065" sldId="281"/>
        </pc:sldMkLst>
        <pc:spChg chg="mod">
          <ac:chgData name="Edwin Quijano" userId="c2699e8b2c00c081" providerId="LiveId" clId="{8CDF0835-D350-43E8-B73A-FDD913FB5576}" dt="2025-12-09T17:31:46.218" v="538"/>
          <ac:spMkLst>
            <pc:docMk/>
            <pc:sldMk cId="2723672065" sldId="281"/>
            <ac:spMk id="2" creationId="{1EEBE12D-3537-1053-83BE-FD59C26599DB}"/>
          </ac:spMkLst>
        </pc:spChg>
        <pc:spChg chg="add mod">
          <ac:chgData name="Edwin Quijano" userId="c2699e8b2c00c081" providerId="LiveId" clId="{8CDF0835-D350-43E8-B73A-FDD913FB5576}" dt="2025-12-09T22:39:59.570" v="1364" actId="1076"/>
          <ac:spMkLst>
            <pc:docMk/>
            <pc:sldMk cId="2723672065" sldId="281"/>
            <ac:spMk id="3" creationId="{7F573C3F-016E-0C84-4F60-1E7ED20CD878}"/>
          </ac:spMkLst>
        </pc:spChg>
        <pc:picChg chg="add mod">
          <ac:chgData name="Edwin Quijano" userId="c2699e8b2c00c081" providerId="LiveId" clId="{8CDF0835-D350-43E8-B73A-FDD913FB5576}" dt="2025-12-09T22:40:09.740" v="1376" actId="1036"/>
          <ac:picMkLst>
            <pc:docMk/>
            <pc:sldMk cId="2723672065" sldId="281"/>
            <ac:picMk id="4" creationId="{71849516-4B2D-4DDE-3989-CD3AEBA59BE4}"/>
          </ac:picMkLst>
        </pc:picChg>
        <pc:picChg chg="add mod">
          <ac:chgData name="Edwin Quijano" userId="c2699e8b2c00c081" providerId="LiveId" clId="{8CDF0835-D350-43E8-B73A-FDD913FB5576}" dt="2025-12-09T22:39:37.031" v="1361" actId="1076"/>
          <ac:picMkLst>
            <pc:docMk/>
            <pc:sldMk cId="2723672065" sldId="281"/>
            <ac:picMk id="8" creationId="{114B160D-C685-0CDD-FF73-47A4645021F0}"/>
          </ac:picMkLst>
        </pc:picChg>
      </pc:sldChg>
      <pc:sldChg chg="addSp delSp modSp add ord modNotesTx">
        <pc:chgData name="Edwin Quijano" userId="c2699e8b2c00c081" providerId="LiveId" clId="{8CDF0835-D350-43E8-B73A-FDD913FB5576}" dt="2025-12-09T22:52:55.034" v="1430" actId="6549"/>
        <pc:sldMkLst>
          <pc:docMk/>
          <pc:sldMk cId="3590766512" sldId="284"/>
        </pc:sldMkLst>
        <pc:spChg chg="mod">
          <ac:chgData name="Edwin Quijano" userId="c2699e8b2c00c081" providerId="LiveId" clId="{8CDF0835-D350-43E8-B73A-FDD913FB5576}" dt="2025-12-09T17:31:46.218" v="538"/>
          <ac:spMkLst>
            <pc:docMk/>
            <pc:sldMk cId="3590766512" sldId="284"/>
            <ac:spMk id="2" creationId="{A1B237CC-0FE2-17FE-E8CD-3BAE06F17359}"/>
          </ac:spMkLst>
        </pc:spChg>
        <pc:spChg chg="add mod">
          <ac:chgData name="Edwin Quijano" userId="c2699e8b2c00c081" providerId="LiveId" clId="{8CDF0835-D350-43E8-B73A-FDD913FB5576}" dt="2025-12-09T18:48:00.850" v="843" actId="403"/>
          <ac:spMkLst>
            <pc:docMk/>
            <pc:sldMk cId="3590766512" sldId="284"/>
            <ac:spMk id="3" creationId="{C0AE6631-193D-D671-F2A1-683C1E3A87ED}"/>
          </ac:spMkLst>
        </pc:spChg>
      </pc:sldChg>
      <pc:sldChg chg="addSp delSp modSp add ord modNotesTx">
        <pc:chgData name="Edwin Quijano" userId="c2699e8b2c00c081" providerId="LiveId" clId="{8CDF0835-D350-43E8-B73A-FDD913FB5576}" dt="2025-12-09T21:55:21.653" v="929"/>
        <pc:sldMkLst>
          <pc:docMk/>
          <pc:sldMk cId="3496178421" sldId="285"/>
        </pc:sldMkLst>
        <pc:spChg chg="mod">
          <ac:chgData name="Edwin Quijano" userId="c2699e8b2c00c081" providerId="LiveId" clId="{8CDF0835-D350-43E8-B73A-FDD913FB5576}" dt="2025-12-09T17:31:46.218" v="538"/>
          <ac:spMkLst>
            <pc:docMk/>
            <pc:sldMk cId="3496178421" sldId="285"/>
            <ac:spMk id="2" creationId="{323D744C-2363-83D6-CCDA-0586CBDF0E05}"/>
          </ac:spMkLst>
        </pc:spChg>
        <pc:spChg chg="add mod">
          <ac:chgData name="Edwin Quijano" userId="c2699e8b2c00c081" providerId="LiveId" clId="{8CDF0835-D350-43E8-B73A-FDD913FB5576}" dt="2025-12-09T18:20:56.260" v="719" actId="6549"/>
          <ac:spMkLst>
            <pc:docMk/>
            <pc:sldMk cId="3496178421" sldId="285"/>
            <ac:spMk id="4" creationId="{9C27F5A3-BCE0-8BCD-C112-76249058AA3E}"/>
          </ac:spMkLst>
        </pc:spChg>
        <pc:spChg chg="add mod">
          <ac:chgData name="Edwin Quijano" userId="c2699e8b2c00c081" providerId="LiveId" clId="{8CDF0835-D350-43E8-B73A-FDD913FB5576}" dt="2025-12-09T18:21:11.392" v="723" actId="1076"/>
          <ac:spMkLst>
            <pc:docMk/>
            <pc:sldMk cId="3496178421" sldId="285"/>
            <ac:spMk id="5" creationId="{F6757FDC-2A96-8823-7732-CED977204283}"/>
          </ac:spMkLst>
        </pc:spChg>
      </pc:sldChg>
      <pc:sldChg chg="addSp delSp modSp add mod modNotesTx">
        <pc:chgData name="Edwin Quijano" userId="c2699e8b2c00c081" providerId="LiveId" clId="{8CDF0835-D350-43E8-B73A-FDD913FB5576}" dt="2025-12-09T23:22:20.677" v="1659" actId="20577"/>
        <pc:sldMkLst>
          <pc:docMk/>
          <pc:sldMk cId="2535301797" sldId="286"/>
        </pc:sldMkLst>
        <pc:spChg chg="mod">
          <ac:chgData name="Edwin Quijano" userId="c2699e8b2c00c081" providerId="LiveId" clId="{8CDF0835-D350-43E8-B73A-FDD913FB5576}" dt="2025-12-09T17:31:46.218" v="538"/>
          <ac:spMkLst>
            <pc:docMk/>
            <pc:sldMk cId="2535301797" sldId="286"/>
            <ac:spMk id="2" creationId="{EC868A2D-5060-5071-9C98-D293607257F2}"/>
          </ac:spMkLst>
        </pc:spChg>
        <pc:picChg chg="add mod">
          <ac:chgData name="Edwin Quijano" userId="c2699e8b2c00c081" providerId="LiveId" clId="{8CDF0835-D350-43E8-B73A-FDD913FB5576}" dt="2025-12-03T22:23:47.971" v="481" actId="1076"/>
          <ac:picMkLst>
            <pc:docMk/>
            <pc:sldMk cId="2535301797" sldId="286"/>
            <ac:picMk id="5" creationId="{18D7F36C-E97C-8469-4800-565BC8126EF6}"/>
          </ac:picMkLst>
        </pc:picChg>
        <pc:picChg chg="add mod">
          <ac:chgData name="Edwin Quijano" userId="c2699e8b2c00c081" providerId="LiveId" clId="{8CDF0835-D350-43E8-B73A-FDD913FB5576}" dt="2025-12-03T20:24:26.796" v="239" actId="1076"/>
          <ac:picMkLst>
            <pc:docMk/>
            <pc:sldMk cId="2535301797" sldId="286"/>
            <ac:picMk id="8" creationId="{71683F84-2A61-9D16-C49D-DD1FFE22B8CD}"/>
          </ac:picMkLst>
        </pc:picChg>
      </pc:sldChg>
      <pc:sldChg chg="addSp delSp modSp add mod modTransition modAnim modNotesTx">
        <pc:chgData name="Edwin Quijano" userId="c2699e8b2c00c081" providerId="LiveId" clId="{8CDF0835-D350-43E8-B73A-FDD913FB5576}" dt="2025-12-09T23:32:40.908" v="1668" actId="20577"/>
        <pc:sldMkLst>
          <pc:docMk/>
          <pc:sldMk cId="2259075427" sldId="287"/>
        </pc:sldMkLst>
        <pc:spChg chg="add mod">
          <ac:chgData name="Edwin Quijano" userId="c2699e8b2c00c081" providerId="LiveId" clId="{8CDF0835-D350-43E8-B73A-FDD913FB5576}" dt="2025-12-09T18:30:25.966" v="758" actId="5793"/>
          <ac:spMkLst>
            <pc:docMk/>
            <pc:sldMk cId="2259075427" sldId="287"/>
            <ac:spMk id="5" creationId="{FFF7D64F-7DA9-BBA5-883D-806AF8273856}"/>
          </ac:spMkLst>
        </pc:spChg>
        <pc:picChg chg="add mod">
          <ac:chgData name="Edwin Quijano" userId="c2699e8b2c00c081" providerId="LiveId" clId="{8CDF0835-D350-43E8-B73A-FDD913FB5576}" dt="2025-12-09T21:47:31.355" v="920" actId="1076"/>
          <ac:picMkLst>
            <pc:docMk/>
            <pc:sldMk cId="2259075427" sldId="287"/>
            <ac:picMk id="6" creationId="{F1500ED4-6495-6032-E427-661BA99CACFA}"/>
          </ac:picMkLst>
        </pc:picChg>
        <pc:picChg chg="add mod">
          <ac:chgData name="Edwin Quijano" userId="c2699e8b2c00c081" providerId="LiveId" clId="{8CDF0835-D350-43E8-B73A-FDD913FB5576}" dt="2025-12-09T21:47:28.466" v="919" actId="14100"/>
          <ac:picMkLst>
            <pc:docMk/>
            <pc:sldMk cId="2259075427" sldId="287"/>
            <ac:picMk id="10" creationId="{0FC08108-8160-AF0C-93CC-A938F716C461}"/>
          </ac:picMkLst>
        </pc:picChg>
      </pc:sldChg>
      <pc:sldChg chg="addSp delSp modSp add mod ord modNotesTx">
        <pc:chgData name="Edwin Quijano" userId="c2699e8b2c00c081" providerId="LiveId" clId="{8CDF0835-D350-43E8-B73A-FDD913FB5576}" dt="2025-12-11T01:33:01.520" v="1734" actId="1076"/>
        <pc:sldMkLst>
          <pc:docMk/>
          <pc:sldMk cId="337648642" sldId="288"/>
        </pc:sldMkLst>
        <pc:spChg chg="mod">
          <ac:chgData name="Edwin Quijano" userId="c2699e8b2c00c081" providerId="LiveId" clId="{8CDF0835-D350-43E8-B73A-FDD913FB5576}" dt="2025-12-10T00:06:14.190" v="1691" actId="20577"/>
          <ac:spMkLst>
            <pc:docMk/>
            <pc:sldMk cId="337648642" sldId="288"/>
            <ac:spMk id="2" creationId="{E203BF3D-2CAD-EC8D-F805-32236ECA2331}"/>
          </ac:spMkLst>
        </pc:spChg>
        <pc:picChg chg="add mod">
          <ac:chgData name="Edwin Quijano" userId="c2699e8b2c00c081" providerId="LiveId" clId="{8CDF0835-D350-43E8-B73A-FDD913FB5576}" dt="2025-12-11T01:33:01.520" v="1734" actId="1076"/>
          <ac:picMkLst>
            <pc:docMk/>
            <pc:sldMk cId="337648642" sldId="288"/>
            <ac:picMk id="5" creationId="{02397126-3569-7AC2-1E6B-875D6CDF6913}"/>
          </ac:picMkLst>
        </pc:picChg>
      </pc:sldChg>
      <pc:sldChg chg="addSp delSp modSp add mod modNotesTx">
        <pc:chgData name="Edwin Quijano" userId="c2699e8b2c00c081" providerId="LiveId" clId="{8CDF0835-D350-43E8-B73A-FDD913FB5576}" dt="2025-12-10T00:06:33.917" v="1700" actId="20577"/>
        <pc:sldMkLst>
          <pc:docMk/>
          <pc:sldMk cId="3803484959" sldId="289"/>
        </pc:sldMkLst>
        <pc:spChg chg="mod">
          <ac:chgData name="Edwin Quijano" userId="c2699e8b2c00c081" providerId="LiveId" clId="{8CDF0835-D350-43E8-B73A-FDD913FB5576}" dt="2025-12-10T00:06:33.917" v="1700" actId="20577"/>
          <ac:spMkLst>
            <pc:docMk/>
            <pc:sldMk cId="3803484959" sldId="289"/>
            <ac:spMk id="2" creationId="{E0DA6657-FCF7-6244-A106-8704297DA66A}"/>
          </ac:spMkLst>
        </pc:spChg>
        <pc:picChg chg="add mod">
          <ac:chgData name="Edwin Quijano" userId="c2699e8b2c00c081" providerId="LiveId" clId="{8CDF0835-D350-43E8-B73A-FDD913FB5576}" dt="2025-12-09T18:32:37.157" v="810" actId="1076"/>
          <ac:picMkLst>
            <pc:docMk/>
            <pc:sldMk cId="3803484959" sldId="289"/>
            <ac:picMk id="7" creationId="{A53F1055-E2D2-4CCE-BCF3-F760A063AB20}"/>
          </ac:picMkLst>
        </pc:picChg>
      </pc:sldChg>
      <pc:sldChg chg="addSp delSp modSp add mod modNotesTx">
        <pc:chgData name="Edwin Quijano" userId="c2699e8b2c00c081" providerId="LiveId" clId="{8CDF0835-D350-43E8-B73A-FDD913FB5576}" dt="2025-12-11T01:00:43.237" v="1733" actId="1076"/>
        <pc:sldMkLst>
          <pc:docMk/>
          <pc:sldMk cId="789670431" sldId="291"/>
        </pc:sldMkLst>
        <pc:spChg chg="mod">
          <ac:chgData name="Edwin Quijano" userId="c2699e8b2c00c081" providerId="LiveId" clId="{8CDF0835-D350-43E8-B73A-FDD913FB5576}" dt="2025-12-09T21:51:02.052" v="928" actId="1076"/>
          <ac:spMkLst>
            <pc:docMk/>
            <pc:sldMk cId="789670431" sldId="291"/>
            <ac:spMk id="2" creationId="{A2FBD47E-BE21-C66C-0027-3B4BA06D592D}"/>
          </ac:spMkLst>
        </pc:spChg>
        <pc:picChg chg="add mod">
          <ac:chgData name="Edwin Quijano" userId="c2699e8b2c00c081" providerId="LiveId" clId="{8CDF0835-D350-43E8-B73A-FDD913FB5576}" dt="2025-12-11T01:00:43.237" v="1733" actId="1076"/>
          <ac:picMkLst>
            <pc:docMk/>
            <pc:sldMk cId="789670431" sldId="291"/>
            <ac:picMk id="4" creationId="{CAD58FED-159E-6524-8202-48B35E2C4052}"/>
          </ac:picMkLst>
        </pc:picChg>
        <pc:picChg chg="add mod">
          <ac:chgData name="Edwin Quijano" userId="c2699e8b2c00c081" providerId="LiveId" clId="{8CDF0835-D350-43E8-B73A-FDD913FB5576}" dt="2025-12-09T21:51:01.620" v="927" actId="14100"/>
          <ac:picMkLst>
            <pc:docMk/>
            <pc:sldMk cId="789670431" sldId="291"/>
            <ac:picMk id="5" creationId="{943B1956-054C-E93A-92E9-EC237D500731}"/>
          </ac:picMkLst>
        </pc:picChg>
      </pc:sldChg>
      <pc:sldChg chg="addSp delSp modSp add">
        <pc:chgData name="Edwin Quijano" userId="c2699e8b2c00c081" providerId="LiveId" clId="{8CDF0835-D350-43E8-B73A-FDD913FB5576}" dt="2025-12-09T19:01:29.977" v="893" actId="20577"/>
        <pc:sldMkLst>
          <pc:docMk/>
          <pc:sldMk cId="2745787987" sldId="292"/>
        </pc:sldMkLst>
        <pc:spChg chg="mod">
          <ac:chgData name="Edwin Quijano" userId="c2699e8b2c00c081" providerId="LiveId" clId="{8CDF0835-D350-43E8-B73A-FDD913FB5576}" dt="2025-12-09T19:01:29.977" v="893" actId="20577"/>
          <ac:spMkLst>
            <pc:docMk/>
            <pc:sldMk cId="2745787987" sldId="292"/>
            <ac:spMk id="2" creationId="{E91D419D-8698-A362-15A2-E0D3B3C89EC0}"/>
          </ac:spMkLst>
        </pc:spChg>
        <pc:picChg chg="add mod">
          <ac:chgData name="Edwin Quijano" userId="c2699e8b2c00c081" providerId="LiveId" clId="{8CDF0835-D350-43E8-B73A-FDD913FB5576}" dt="2025-12-09T18:43:56.500" v="832" actId="14100"/>
          <ac:picMkLst>
            <pc:docMk/>
            <pc:sldMk cId="2745787987" sldId="292"/>
            <ac:picMk id="4" creationId="{70CDF612-B7AD-43CA-B53E-9DD739E050D3}"/>
          </ac:picMkLst>
        </pc:picChg>
      </pc:sldChg>
      <pc:sldChg chg="addSp delSp modSp add mod modNotesTx">
        <pc:chgData name="Edwin Quijano" userId="c2699e8b2c00c081" providerId="LiveId" clId="{8CDF0835-D350-43E8-B73A-FDD913FB5576}" dt="2025-12-10T00:16:24.295" v="1732" actId="20577"/>
        <pc:sldMkLst>
          <pc:docMk/>
          <pc:sldMk cId="2733814936" sldId="293"/>
        </pc:sldMkLst>
        <pc:spChg chg="mod">
          <ac:chgData name="Edwin Quijano" userId="c2699e8b2c00c081" providerId="LiveId" clId="{8CDF0835-D350-43E8-B73A-FDD913FB5576}" dt="2025-12-09T22:04:34.796" v="980" actId="20577"/>
          <ac:spMkLst>
            <pc:docMk/>
            <pc:sldMk cId="2733814936" sldId="293"/>
            <ac:spMk id="2" creationId="{D96DE1EE-24C4-308A-AC39-6F9761BDA191}"/>
          </ac:spMkLst>
        </pc:spChg>
        <pc:graphicFrameChg chg="add mod ord modGraphic">
          <ac:chgData name="Edwin Quijano" userId="c2699e8b2c00c081" providerId="LiveId" clId="{8CDF0835-D350-43E8-B73A-FDD913FB5576}" dt="2025-12-10T00:16:24.295" v="1732" actId="20577"/>
          <ac:graphicFrameMkLst>
            <pc:docMk/>
            <pc:sldMk cId="2733814936" sldId="293"/>
            <ac:graphicFrameMk id="4" creationId="{76A5F36C-A402-538E-1D6F-7B7B4CD08D9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3FB87-790C-4850-A90C-12C5FF4B94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8127921-F9C4-44F3-AC5F-130B6A406C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E59275-AFE1-4999-B78A-D0D76B9F2B0B}" type="datetimeFigureOut">
              <a:rPr lang="en-US" smtClean="0"/>
              <a:t>12/10/2025</a:t>
            </a:fld>
            <a:endParaRPr lang="en-US" dirty="0"/>
          </a:p>
        </p:txBody>
      </p:sp>
      <p:sp>
        <p:nvSpPr>
          <p:cNvPr id="4" name="Footer Placeholder 3">
            <a:extLst>
              <a:ext uri="{FF2B5EF4-FFF2-40B4-BE49-F238E27FC236}">
                <a16:creationId xmlns:a16="http://schemas.microsoft.com/office/drawing/2014/main" id="{4765E047-F1CB-4066-A459-9EDC95F2E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8A77EF5-5277-4BAF-8BB4-2E02103988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68C69-0C3E-40A2-B4A0-B2C8B71D8E3A}" type="slidenum">
              <a:rPr lang="en-US" smtClean="0"/>
              <a:t>‹#›</a:t>
            </a:fld>
            <a:endParaRPr lang="en-US" dirty="0"/>
          </a:p>
        </p:txBody>
      </p:sp>
    </p:spTree>
    <p:extLst>
      <p:ext uri="{BB962C8B-B14F-4D97-AF65-F5344CB8AC3E}">
        <p14:creationId xmlns:p14="http://schemas.microsoft.com/office/powerpoint/2010/main" val="2051586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ADD7A-FE61-48EE-BE0E-8546E5401374}" type="datetimeFigureOut">
              <a:rPr lang="en-US" smtClean="0"/>
              <a:t>12/10/2025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00EEB-8338-48D7-8EE8-EE0082EF7602}" type="slidenum">
              <a:rPr lang="en-US" smtClean="0"/>
              <a:t>‹#›</a:t>
            </a:fld>
            <a:endParaRPr lang="en-US" dirty="0"/>
          </a:p>
        </p:txBody>
      </p:sp>
    </p:spTree>
    <p:extLst>
      <p:ext uri="{BB962C8B-B14F-4D97-AF65-F5344CB8AC3E}">
        <p14:creationId xmlns:p14="http://schemas.microsoft.com/office/powerpoint/2010/main" val="3767770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about time series analysis and LSTM optimization in supply chain inventories.</a:t>
            </a:r>
          </a:p>
        </p:txBody>
      </p:sp>
      <p:sp>
        <p:nvSpPr>
          <p:cNvPr id="4" name="Slide Number Placeholder 3"/>
          <p:cNvSpPr>
            <a:spLocks noGrp="1"/>
          </p:cNvSpPr>
          <p:nvPr>
            <p:ph type="sldNum" sz="quarter" idx="5"/>
          </p:nvPr>
        </p:nvSpPr>
        <p:spPr/>
        <p:txBody>
          <a:bodyPr/>
          <a:lstStyle/>
          <a:p>
            <a:fld id="{EE000EEB-8338-48D7-8EE8-EE0082EF7602}" type="slidenum">
              <a:rPr lang="en-US" smtClean="0"/>
              <a:t>1</a:t>
            </a:fld>
            <a:endParaRPr lang="en-US" dirty="0"/>
          </a:p>
        </p:txBody>
      </p:sp>
    </p:spTree>
    <p:extLst>
      <p:ext uri="{BB962C8B-B14F-4D97-AF65-F5344CB8AC3E}">
        <p14:creationId xmlns:p14="http://schemas.microsoft.com/office/powerpoint/2010/main" val="4005338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analysis, I want to give some background on why this project was developed and why it is important for our operations.</a:t>
            </a:r>
          </a:p>
          <a:p>
            <a:r>
              <a:rPr lang="en-US" dirty="0"/>
              <a:t>I manage two companies—one based in the United States and one in south</a:t>
            </a:r>
            <a:r>
              <a:rPr lang="en-US" baseline="0" dirty="0"/>
              <a:t> </a:t>
            </a:r>
            <a:r>
              <a:rPr lang="en-US" baseline="0" dirty="0" err="1"/>
              <a:t>america</a:t>
            </a:r>
            <a:r>
              <a:rPr lang="en-US" dirty="0"/>
              <a:t>. Together, we manufacture cosmetic products for multiple clients, which means our supply chain, production flow, and inventory management must operate efficiently across the two countries.</a:t>
            </a:r>
          </a:p>
          <a:p>
            <a:r>
              <a:rPr lang="en-US" dirty="0"/>
              <a:t>The idea for this project came from recurring challenges we have faced with inventory storage over the past several years.</a:t>
            </a:r>
          </a:p>
          <a:p>
            <a:endParaRPr lang="en-US" dirty="0"/>
          </a:p>
          <a:p>
            <a:endParaRPr lang="en-US" dirty="0"/>
          </a:p>
          <a:p>
            <a:endParaRPr lang="en-US" dirty="0"/>
          </a:p>
          <a:p>
            <a:endParaRPr lang="en-US" dirty="0"/>
          </a:p>
          <a:p>
            <a:r>
              <a:rPr lang="en-US" dirty="0"/>
              <a:t>2020</a:t>
            </a:r>
            <a:r>
              <a:rPr lang="en-US" baseline="0" dirty="0"/>
              <a:t> to 2022 covid19 created supply chain disruption</a:t>
            </a:r>
          </a:p>
          <a:p>
            <a:endParaRPr lang="en-US" baseline="0" dirty="0"/>
          </a:p>
          <a:p>
            <a:r>
              <a:rPr lang="en-US" baseline="0" dirty="0"/>
              <a:t>Then Normalization in 2023 to 2024 and then the </a:t>
            </a:r>
          </a:p>
          <a:p>
            <a:endParaRPr lang="en-US" baseline="0" dirty="0"/>
          </a:p>
          <a:p>
            <a:r>
              <a:rPr lang="en-US" baseline="0" dirty="0"/>
              <a:t>U.S political policies affected the   supply chain once again in 2025</a:t>
            </a:r>
          </a:p>
          <a:p>
            <a:endParaRPr lang="en-US" baseline="0" dirty="0"/>
          </a:p>
          <a:p>
            <a:r>
              <a:rPr lang="en-US" baseline="0" dirty="0"/>
              <a:t>Due to increasing tariffs,  products are rerouted to south America,  but at the same creating another challenge, warehouse space</a:t>
            </a:r>
          </a:p>
          <a:p>
            <a:endParaRPr lang="en-US" dirty="0"/>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2</a:t>
            </a:fld>
            <a:endParaRPr lang="en-US" dirty="0"/>
          </a:p>
        </p:txBody>
      </p:sp>
    </p:spTree>
    <p:extLst>
      <p:ext uri="{BB962C8B-B14F-4D97-AF65-F5344CB8AC3E}">
        <p14:creationId xmlns:p14="http://schemas.microsoft.com/office/powerpoint/2010/main" val="3347917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primary reasons we forecast space usage is to ensure that the warehouse has enough capacity to handle daily operations without bottlenecks.</a:t>
            </a:r>
          </a:p>
          <a:p>
            <a:endParaRPr lang="en-US" dirty="0"/>
          </a:p>
          <a:p>
            <a:r>
              <a:rPr lang="en-US" dirty="0"/>
              <a:t>Space constraints can quickly create operational delays during receiving, put-away, or picking. </a:t>
            </a:r>
          </a:p>
          <a:p>
            <a:endParaRPr lang="en-US" dirty="0"/>
          </a:p>
          <a:p>
            <a:r>
              <a:rPr lang="en-US" dirty="0"/>
              <a:t>By anticipating how much space will be needed in advance, we can allocate racking, staging, and overflow areas more efficiently.</a:t>
            </a:r>
          </a:p>
          <a:p>
            <a:endParaRPr lang="en-US" dirty="0"/>
          </a:p>
          <a:p>
            <a:endParaRPr lang="en-US" dirty="0"/>
          </a:p>
          <a:p>
            <a:endParaRPr lang="en-US" dirty="0"/>
          </a:p>
          <a:p>
            <a:r>
              <a:rPr lang="en-US" dirty="0"/>
              <a:t>##########</a:t>
            </a:r>
          </a:p>
          <a:p>
            <a:endParaRPr lang="en-US" dirty="0"/>
          </a:p>
          <a:p>
            <a:r>
              <a:rPr lang="en-US" dirty="0"/>
              <a:t>Warehouse labor is often scheduled one to two weeks ahead. If we know when high-volume days are coming, we can adjust staffing levels proactively. This means more staff available during peak transfer days and fewer idle hours during low-volume periods. Forecasting helps us plan labor in a cost-efficient and operationally stable way.</a:t>
            </a:r>
          </a:p>
          <a:p>
            <a:endParaRPr lang="en-US" dirty="0"/>
          </a:p>
          <a:p>
            <a:r>
              <a:rPr lang="en-US" dirty="0"/>
              <a:t>Congestion during inbound transfers increases put-away time, delays picking, and affects truck turn-around time. Accurate forecasts allow operations teams to pre-position pallets, coordinate inbound schedules, and reduce cycle time. Forecasting leads to smoother workflows and fewer process interruptions.</a:t>
            </a:r>
          </a:p>
          <a:p>
            <a:endParaRPr lang="en-US" dirty="0"/>
          </a:p>
          <a:p>
            <a:r>
              <a:rPr lang="en-US" dirty="0"/>
              <a:t>Space is not just a physical asset — it’s a cost center. Better forecasting reduces wasted space and helps justify decisions about expansions, leases, or rearranging storage configurations. It allows management to evaluate whether current space meets future operational needs.</a:t>
            </a:r>
          </a:p>
          <a:p>
            <a:endParaRPr lang="en-US" dirty="0"/>
          </a:p>
          <a:p>
            <a:r>
              <a:rPr lang="en-US" dirty="0"/>
              <a:t>With consistent forecasts, we can communicate more effectively with suppliers about optimal delivery windows. This prevents multiple vendors arriving at once, reducing dock congestion. Forecasting makes inbound scheduling more predictable and measurable.</a:t>
            </a:r>
          </a:p>
          <a:p>
            <a:endParaRPr lang="en-US" dirty="0"/>
          </a:p>
          <a:p>
            <a:r>
              <a:rPr lang="en-US" dirty="0"/>
              <a:t>Forecast models act like an early warning system. If we anticipate sharp increases in space usage or category-specific spikes—like the Smartphone category in our data—we can intervene early. That may include adjusting reorder points, delaying inbound shipments, or reallocating storage zones before problems occur</a:t>
            </a:r>
          </a:p>
          <a:p>
            <a:endParaRPr lang="en-US" dirty="0"/>
          </a:p>
          <a:p>
            <a:r>
              <a:rPr lang="en-US" dirty="0"/>
              <a:t>Sudden changes in demand or supply chain disruptions can strain warehouse operations. Forecasting—especially when using models like SARIMA and VAR—builds resilience by helping us simulate scenarios and prepare contingency plans. It gives us more confidence in decision-making</a:t>
            </a:r>
          </a:p>
        </p:txBody>
      </p:sp>
      <p:sp>
        <p:nvSpPr>
          <p:cNvPr id="4" name="Slide Number Placeholder 3"/>
          <p:cNvSpPr>
            <a:spLocks noGrp="1"/>
          </p:cNvSpPr>
          <p:nvPr>
            <p:ph type="sldNum" sz="quarter" idx="5"/>
          </p:nvPr>
        </p:nvSpPr>
        <p:spPr/>
        <p:txBody>
          <a:bodyPr/>
          <a:lstStyle/>
          <a:p>
            <a:fld id="{EE000EEB-8338-48D7-8EE8-EE0082EF7602}" type="slidenum">
              <a:rPr lang="en-US" smtClean="0"/>
              <a:t>3</a:t>
            </a:fld>
            <a:endParaRPr lang="en-US" dirty="0"/>
          </a:p>
        </p:txBody>
      </p:sp>
    </p:spTree>
    <p:extLst>
      <p:ext uri="{BB962C8B-B14F-4D97-AF65-F5344CB8AC3E}">
        <p14:creationId xmlns:p14="http://schemas.microsoft.com/office/powerpoint/2010/main" val="1981644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used for this project was retrieved from </a:t>
            </a:r>
            <a:r>
              <a:rPr lang="en-US" baseline="0" dirty="0"/>
              <a:t>Kaggle</a:t>
            </a:r>
          </a:p>
          <a:p>
            <a:endParaRPr lang="en-US" baseline="0" dirty="0"/>
          </a:p>
          <a:p>
            <a:r>
              <a:rPr lang="en-US" baseline="0" dirty="0"/>
              <a:t> </a:t>
            </a:r>
            <a:r>
              <a:rPr lang="en-US" dirty="0"/>
              <a:t>the data includes transaction dates, product dimensions, and transfer quantities, we can convert each transaction into actual warehouse space consumed. </a:t>
            </a:r>
          </a:p>
          <a:p>
            <a:endParaRPr lang="en-US" dirty="0"/>
          </a:p>
          <a:p>
            <a:r>
              <a:rPr lang="en-US" baseline="0" dirty="0"/>
              <a:t>most </a:t>
            </a:r>
            <a:r>
              <a:rPr lang="en-US" dirty="0"/>
              <a:t>warehouses only track units, but not the cubic volume impact. Here we have enough information to build a true space utilization forecast, which directly connects inventory flow to physical capacity</a:t>
            </a:r>
          </a:p>
          <a:p>
            <a:endParaRPr lang="en-US" dirty="0"/>
          </a:p>
          <a:p>
            <a:endParaRPr lang="en-US" dirty="0"/>
          </a:p>
          <a:p>
            <a:r>
              <a:rPr lang="en-US" dirty="0"/>
              <a:t>The dataset contains stock quantity, product category, and product dimensions.</a:t>
            </a:r>
          </a:p>
          <a:p>
            <a:r>
              <a:rPr lang="en-US" dirty="0"/>
              <a:t>Stock quantity tells us how many units moved each day.</a:t>
            </a:r>
          </a:p>
          <a:p>
            <a:r>
              <a:rPr lang="en-US" dirty="0"/>
              <a:t>Product dimensions allow us to calculate the physical volume of each item.</a:t>
            </a:r>
          </a:p>
          <a:p>
            <a:r>
              <a:rPr lang="en-US" dirty="0"/>
              <a:t>Product category enables us to study differences across Laptops, Monitors, Smartphones, and Headphones.</a:t>
            </a:r>
            <a:br>
              <a:rPr lang="en-US" dirty="0"/>
            </a:br>
            <a:r>
              <a:rPr lang="en-US" dirty="0"/>
              <a:t>Together, these fields let us analyze and forecast both </a:t>
            </a:r>
            <a:r>
              <a:rPr lang="en-US" i="1" dirty="0"/>
              <a:t>units</a:t>
            </a:r>
            <a:r>
              <a:rPr lang="en-US" dirty="0"/>
              <a:t> and </a:t>
            </a:r>
            <a:r>
              <a:rPr lang="en-US" i="1" dirty="0"/>
              <a:t>cubic meters</a:t>
            </a:r>
            <a:r>
              <a:rPr lang="en-US" dirty="0"/>
              <a:t> of warehouse space used.</a:t>
            </a:r>
          </a:p>
          <a:p>
            <a:endParaRPr lang="en-US" dirty="0"/>
          </a:p>
          <a:p>
            <a:endParaRPr lang="en-US" dirty="0"/>
          </a:p>
          <a:p>
            <a:endParaRPr lang="en-US" dirty="0"/>
          </a:p>
          <a:p>
            <a:endParaRPr lang="en-US" dirty="0"/>
          </a:p>
          <a:p>
            <a:r>
              <a:rPr lang="en-US" dirty="0"/>
              <a:t>##################</a:t>
            </a:r>
          </a:p>
          <a:p>
            <a:endParaRPr lang="en-US" dirty="0"/>
          </a:p>
          <a:p>
            <a:r>
              <a:rPr lang="en-US" dirty="0"/>
              <a:t>The raw dimensions come in the form ‘Length x Width x Height cm’. We clean these fields, split them into numeric components, and compute per-unit volume in cubic centimeters. Then, by multiplying by the quantity transferred and converting to cubic meters, we get a precise measure of space used per transaction. Aggregating this over each day produces our daily space usage time series</a:t>
            </a:r>
          </a:p>
          <a:p>
            <a:endParaRPr lang="en-US" dirty="0"/>
          </a:p>
          <a:p>
            <a:r>
              <a:rPr lang="en-US" b="1" dirty="0"/>
              <a:t>Why the dataset is suitable for time series modeling</a:t>
            </a:r>
          </a:p>
          <a:p>
            <a:r>
              <a:rPr lang="en-US" dirty="0"/>
              <a:t>“The dataset spans 365 consecutive days, giving us full daily coverage with no gaps. This makes it a perfect candidate for time series modeling because models like SARIMA depend on continuous temporal data. The dataset also contains four categories, which allows us to build a multivariate time series model—such as VAR—to understand category interactions.</a:t>
            </a:r>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4</a:t>
            </a:fld>
            <a:endParaRPr lang="en-US" dirty="0"/>
          </a:p>
        </p:txBody>
      </p:sp>
    </p:spTree>
    <p:extLst>
      <p:ext uri="{BB962C8B-B14F-4D97-AF65-F5344CB8AC3E}">
        <p14:creationId xmlns:p14="http://schemas.microsoft.com/office/powerpoint/2010/main" val="3633044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Before we could fit the models, we transformed the raw data into usable time series:</a:t>
            </a:r>
          </a:p>
          <a:p>
            <a:endParaRPr lang="en-US" dirty="0"/>
          </a:p>
          <a:p>
            <a:r>
              <a:rPr lang="en-US" dirty="0"/>
              <a:t>Calculating space in cubic meters from product dimensions</a:t>
            </a:r>
          </a:p>
          <a:p>
            <a:endParaRPr lang="en-US" dirty="0"/>
          </a:p>
          <a:p>
            <a:r>
              <a:rPr lang="en-US" dirty="0"/>
              <a:t>Aggregating both total and category-level space per day</a:t>
            </a:r>
          </a:p>
          <a:p>
            <a:endParaRPr lang="en-US" dirty="0"/>
          </a:p>
          <a:p>
            <a:r>
              <a:rPr lang="en-US" dirty="0"/>
              <a:t>Testing for stationarity using the Augmented Dickey–Fuller test</a:t>
            </a:r>
          </a:p>
          <a:p>
            <a:endParaRPr lang="en-US" dirty="0"/>
          </a:p>
          <a:p>
            <a:r>
              <a:rPr lang="en-US" dirty="0"/>
              <a:t>These steps ensured we were providing clean, well-behaved time series to the models. </a:t>
            </a:r>
          </a:p>
          <a:p>
            <a:endParaRPr lang="en-US" dirty="0"/>
          </a:p>
          <a:p>
            <a:r>
              <a:rPr lang="en-US" dirty="0"/>
              <a:t>Without this preparation, the forecasts would be unreliable.</a:t>
            </a:r>
          </a:p>
          <a:p>
            <a:endParaRPr lang="en-US" dirty="0"/>
          </a:p>
          <a:p>
            <a:r>
              <a:rPr lang="en-US" dirty="0"/>
              <a:t>3333333333333333333</a:t>
            </a:r>
          </a:p>
          <a:p>
            <a:endParaRPr lang="en-US" dirty="0"/>
          </a:p>
          <a:p>
            <a:r>
              <a:rPr lang="en-US" b="1" dirty="0"/>
              <a:t>Stationarity Testing (ADF Test)</a:t>
            </a:r>
          </a:p>
          <a:p>
            <a:r>
              <a:rPr lang="en-US" dirty="0"/>
              <a:t>The ADF test confirmed that the total space series is not stationary in levels but becomes stationary after first differencing. This is important because many time series models require stationarity.</a:t>
            </a:r>
          </a:p>
          <a:p>
            <a:r>
              <a:rPr lang="en-US" dirty="0"/>
              <a:t>For categories, we found that three out of four categories were also non-stationary and required differencing. These results guided how we structured both the SARIMA and VAR models.</a:t>
            </a:r>
          </a:p>
          <a:p>
            <a:endParaRPr lang="en-US" dirty="0"/>
          </a:p>
          <a:p>
            <a:r>
              <a:rPr lang="en-US" b="1" dirty="0"/>
              <a:t>SARIMA Model</a:t>
            </a:r>
          </a:p>
          <a:p>
            <a:endParaRPr lang="en-US" b="1" dirty="0"/>
          </a:p>
          <a:p>
            <a:r>
              <a:rPr lang="en-US" dirty="0"/>
              <a:t>SARIMA stands for Seasonal </a:t>
            </a:r>
            <a:r>
              <a:rPr lang="en-US" dirty="0" err="1"/>
              <a:t>AutoRegressive</a:t>
            </a:r>
            <a:r>
              <a:rPr lang="en-US" dirty="0"/>
              <a:t> Integrated Moving Average.</a:t>
            </a:r>
          </a:p>
          <a:p>
            <a:r>
              <a:rPr lang="en-US" dirty="0"/>
              <a:t>We chose SARIMA because:</a:t>
            </a:r>
          </a:p>
          <a:p>
            <a:r>
              <a:rPr lang="en-US" dirty="0"/>
              <a:t>The total space used shows </a:t>
            </a:r>
            <a:r>
              <a:rPr lang="en-US" b="1" dirty="0"/>
              <a:t>weekly seasonality</a:t>
            </a:r>
            <a:r>
              <a:rPr lang="en-US" dirty="0"/>
              <a:t>, which SARIMA handles explicitly</a:t>
            </a:r>
          </a:p>
          <a:p>
            <a:r>
              <a:rPr lang="en-US" dirty="0"/>
              <a:t>The series has a trend component that requires differencing</a:t>
            </a:r>
          </a:p>
          <a:p>
            <a:r>
              <a:rPr lang="en-US" dirty="0"/>
              <a:t>The ACF and PACF plots showed signatures of MA and AR behavior</a:t>
            </a:r>
          </a:p>
          <a:p>
            <a:r>
              <a:rPr lang="en-US" dirty="0"/>
              <a:t>SARIMA is a strong model when you want to capture cycles, noise, and seasonality all at once.”</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5</a:t>
            </a:fld>
            <a:endParaRPr lang="en-US" dirty="0"/>
          </a:p>
        </p:txBody>
      </p:sp>
    </p:spTree>
    <p:extLst>
      <p:ext uri="{BB962C8B-B14F-4D97-AF65-F5344CB8AC3E}">
        <p14:creationId xmlns:p14="http://schemas.microsoft.com/office/powerpoint/2010/main" val="599589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aggregated daily space usage across the full year, the warehouse used an average of </a:t>
            </a:r>
            <a:r>
              <a:rPr lang="en-US" b="1" dirty="0"/>
              <a:t>2.68 cubic meters per day</a:t>
            </a:r>
            <a:r>
              <a:rPr lang="en-US" dirty="0"/>
              <a:t>, with daily values ranging from </a:t>
            </a:r>
            <a:r>
              <a:rPr lang="en-US" b="1" dirty="0"/>
              <a:t>0.65 to over 7 cubic meters</a:t>
            </a:r>
            <a:r>
              <a:rPr lang="en-US" dirty="0"/>
              <a:t>.</a:t>
            </a:r>
          </a:p>
          <a:p>
            <a:endParaRPr lang="en-US" dirty="0"/>
          </a:p>
          <a:p>
            <a:r>
              <a:rPr lang="en-US" dirty="0"/>
              <a:t>This wide range means that warehouse operations experience </a:t>
            </a:r>
            <a:r>
              <a:rPr lang="en-US" b="1" dirty="0"/>
              <a:t>significant variability</a:t>
            </a:r>
            <a:r>
              <a:rPr lang="en-US" dirty="0"/>
              <a:t>, and capacity is not constant—it fluctuates based on product mix and stock flows.</a:t>
            </a:r>
          </a:p>
          <a:p>
            <a:endParaRPr lang="en-US" dirty="0"/>
          </a:p>
          <a:p>
            <a:r>
              <a:rPr lang="en-US" dirty="0"/>
              <a:t>The high peaks above 6–7 m³ represent potential </a:t>
            </a:r>
            <a:r>
              <a:rPr lang="en-US" b="1" dirty="0"/>
              <a:t>congestion days</a:t>
            </a:r>
            <a:r>
              <a:rPr lang="en-US" dirty="0"/>
              <a:t> where space or labor could become constrained.</a:t>
            </a:r>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6</a:t>
            </a:fld>
            <a:endParaRPr lang="en-US" dirty="0"/>
          </a:p>
        </p:txBody>
      </p:sp>
    </p:spTree>
    <p:extLst>
      <p:ext uri="{BB962C8B-B14F-4D97-AF65-F5344CB8AC3E}">
        <p14:creationId xmlns:p14="http://schemas.microsoft.com/office/powerpoint/2010/main" val="3148843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We found that stock transfers and space consumed are </a:t>
            </a:r>
            <a:r>
              <a:rPr lang="en-US" sz="2000" b="1" dirty="0"/>
              <a:t>highly correlated</a:t>
            </a:r>
            <a:r>
              <a:rPr lang="en-US" sz="2000" dirty="0"/>
              <a:t>, with a correlation coefficient of </a:t>
            </a:r>
            <a:r>
              <a:rPr lang="en-US" sz="2000" b="1" dirty="0"/>
              <a:t>0.95</a:t>
            </a:r>
            <a:r>
              <a:rPr lang="en-US" sz="2000" dirty="0"/>
              <a:t>.</a:t>
            </a:r>
          </a:p>
          <a:p>
            <a:endParaRPr lang="en-US" sz="2000" dirty="0"/>
          </a:p>
          <a:p>
            <a:r>
              <a:rPr lang="en-US" sz="2000" dirty="0"/>
              <a:t>This means that the more units move through the warehouse, the more space is required—but  the relationship is not </a:t>
            </a:r>
            <a:r>
              <a:rPr lang="en-US" sz="2000" dirty="0" err="1"/>
              <a:t>gonna</a:t>
            </a:r>
            <a:r>
              <a:rPr lang="en-US" sz="2000" dirty="0"/>
              <a:t> be  perfectly linear because product mix changes.</a:t>
            </a:r>
          </a:p>
          <a:p>
            <a:endParaRPr lang="en-US" sz="2000" dirty="0"/>
          </a:p>
          <a:p>
            <a:r>
              <a:rPr lang="en-US" sz="2000" dirty="0"/>
              <a:t>So forecasting space requires more than forecasting units—we must also consider </a:t>
            </a:r>
            <a:r>
              <a:rPr lang="en-US" sz="2000" b="1" dirty="0"/>
              <a:t>category composition and item dimensions</a:t>
            </a:r>
            <a:r>
              <a:rPr lang="en-US" sz="2000" dirty="0"/>
              <a:t>.</a:t>
            </a:r>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7</a:t>
            </a:fld>
            <a:endParaRPr lang="en-US" dirty="0"/>
          </a:p>
        </p:txBody>
      </p:sp>
    </p:spTree>
    <p:extLst>
      <p:ext uri="{BB962C8B-B14F-4D97-AF65-F5344CB8AC3E}">
        <p14:creationId xmlns:p14="http://schemas.microsoft.com/office/powerpoint/2010/main" val="3591968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can see, the ACF of the level series decays slowly, consistent with non-stationarity.</a:t>
            </a:r>
          </a:p>
          <a:p>
            <a:endParaRPr lang="en-US" dirty="0"/>
          </a:p>
          <a:p>
            <a:r>
              <a:rPr lang="en-US" dirty="0"/>
              <a:t>The PACF shows a slowly decreasing pattern across the next several lags.</a:t>
            </a:r>
          </a:p>
          <a:p>
            <a:endParaRPr lang="en-US" dirty="0"/>
          </a:p>
          <a:p>
            <a:r>
              <a:rPr lang="en-US" dirty="0"/>
              <a:t>This slow decay is a classic sign of </a:t>
            </a:r>
            <a:r>
              <a:rPr lang="en-US" b="1" dirty="0"/>
              <a:t>non-stationarity</a:t>
            </a:r>
            <a:r>
              <a:rPr lang="en-US" dirty="0"/>
              <a:t> in the raw data.</a:t>
            </a:r>
          </a:p>
          <a:p>
            <a:endParaRPr lang="en-US" dirty="0"/>
          </a:p>
          <a:p>
            <a:r>
              <a:rPr lang="en-US" dirty="0"/>
              <a:t>Combined with the ACF behavior, and it confirms the need for </a:t>
            </a:r>
            <a:r>
              <a:rPr lang="en-US" b="1" dirty="0"/>
              <a:t>first differencing</a:t>
            </a:r>
            <a:r>
              <a:rPr lang="en-US" dirty="0"/>
              <a:t>.</a:t>
            </a:r>
          </a:p>
          <a:p>
            <a:endParaRPr lang="en-US" dirty="0"/>
          </a:p>
          <a:p>
            <a:endParaRPr lang="en-US" dirty="0"/>
          </a:p>
          <a:p>
            <a:r>
              <a:rPr lang="en-US" dirty="0"/>
              <a:t>The augmented Dickey–Fuller (ADF) test was applied to the total space series </a:t>
            </a:r>
            <a:r>
              <a:rPr lang="en-US" sz="1200" kern="1200" dirty="0">
                <a:solidFill>
                  <a:schemeClr val="tx1"/>
                </a:solidFill>
                <a:latin typeface="+mn-lt"/>
                <a:ea typeface="+mn-ea"/>
                <a:cs typeface="+mn-cs"/>
              </a:rPr>
              <a:t>total_space_m3(t)</a:t>
            </a:r>
            <a:r>
              <a:rPr lang="en-US" dirty="0"/>
              <a:t>:</a:t>
            </a:r>
          </a:p>
          <a:p>
            <a:r>
              <a:rPr lang="en-US" b="1" dirty="0"/>
              <a:t>ADF on levels</a:t>
            </a:r>
            <a:r>
              <a:rPr lang="en-US" dirty="0"/>
              <a:t>: test statistic around −2.3 with p ≈ </a:t>
            </a:r>
            <a:r>
              <a:rPr lang="en-US" b="1" dirty="0"/>
              <a:t>0.16–0.17</a:t>
            </a:r>
            <a:r>
              <a:rPr lang="en-US" dirty="0"/>
              <a:t>.</a:t>
            </a:r>
          </a:p>
          <a:p>
            <a:pPr lvl="1"/>
            <a:r>
              <a:rPr lang="en-US" dirty="0"/>
              <a:t>Therefore</a:t>
            </a:r>
            <a:r>
              <a:rPr lang="en-US" baseline="0" dirty="0"/>
              <a:t> </a:t>
            </a:r>
            <a:r>
              <a:rPr lang="en-US" dirty="0"/>
              <a:t>fail to reject the null of a unit root → </a:t>
            </a:r>
            <a:r>
              <a:rPr lang="en-US" b="1" dirty="0"/>
              <a:t>non-stationary in levels</a:t>
            </a:r>
            <a:r>
              <a:rPr lang="en-US" dirty="0"/>
              <a:t>.</a:t>
            </a:r>
          </a:p>
          <a:p>
            <a:r>
              <a:rPr lang="en-US" b="1" dirty="0"/>
              <a:t>ADF on first differences</a:t>
            </a:r>
            <a:r>
              <a:rPr lang="en-US" dirty="0"/>
              <a:t> Δ</a:t>
            </a:r>
            <a:r>
              <a:rPr lang="en-US" sz="1200" kern="1200" dirty="0">
                <a:solidFill>
                  <a:schemeClr val="tx1"/>
                </a:solidFill>
                <a:latin typeface="+mn-lt"/>
                <a:ea typeface="+mn-ea"/>
                <a:cs typeface="+mn-cs"/>
              </a:rPr>
              <a:t>total_space_m3(t)</a:t>
            </a:r>
            <a:r>
              <a:rPr lang="en-US" dirty="0"/>
              <a:t>:</a:t>
            </a:r>
          </a:p>
          <a:p>
            <a:pPr lvl="1"/>
            <a:r>
              <a:rPr lang="en-US" dirty="0"/>
              <a:t>Very low p-value (p &lt; 1e−17).</a:t>
            </a:r>
          </a:p>
          <a:p>
            <a:pPr lvl="1"/>
            <a:r>
              <a:rPr lang="en-US" b="1" dirty="0"/>
              <a:t>first differences are stationary</a:t>
            </a:r>
            <a:r>
              <a:rPr lang="en-US" dirty="0"/>
              <a:t> → I(1) process.</a:t>
            </a:r>
          </a:p>
          <a:p>
            <a:r>
              <a:rPr lang="en-US" dirty="0"/>
              <a:t>Similar results hold for </a:t>
            </a:r>
            <a:r>
              <a:rPr lang="en-US" sz="1200" kern="1200" dirty="0" err="1">
                <a:solidFill>
                  <a:schemeClr val="tx1"/>
                </a:solidFill>
                <a:latin typeface="+mn-lt"/>
                <a:ea typeface="+mn-ea"/>
                <a:cs typeface="+mn-cs"/>
              </a:rPr>
              <a:t>total_stock_qty</a:t>
            </a:r>
            <a:r>
              <a:rPr lang="en-US" sz="1200" kern="1200" dirty="0">
                <a:solidFill>
                  <a:schemeClr val="tx1"/>
                </a:solidFill>
                <a:latin typeface="+mn-lt"/>
                <a:ea typeface="+mn-ea"/>
                <a:cs typeface="+mn-cs"/>
              </a:rPr>
              <a:t>(t)</a:t>
            </a:r>
            <a:r>
              <a:rPr lang="en-US" dirty="0"/>
              <a:t>.</a:t>
            </a:r>
          </a:p>
          <a:p>
            <a:endParaRPr lang="en-US" dirty="0"/>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8</a:t>
            </a:fld>
            <a:endParaRPr lang="en-US" dirty="0"/>
          </a:p>
        </p:txBody>
      </p:sp>
    </p:spTree>
    <p:extLst>
      <p:ext uri="{BB962C8B-B14F-4D97-AF65-F5344CB8AC3E}">
        <p14:creationId xmlns:p14="http://schemas.microsoft.com/office/powerpoint/2010/main" val="3619287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9</a:t>
            </a:fld>
            <a:endParaRPr lang="en-US" dirty="0"/>
          </a:p>
        </p:txBody>
      </p:sp>
    </p:spTree>
    <p:extLst>
      <p:ext uri="{BB962C8B-B14F-4D97-AF65-F5344CB8AC3E}">
        <p14:creationId xmlns:p14="http://schemas.microsoft.com/office/powerpoint/2010/main" val="2680647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ACF of the differenced series shows a more rapid decay with some significant spikes at low lags and around lag 7, suggesting </a:t>
            </a:r>
            <a:r>
              <a:rPr lang="en-US" b="1" dirty="0"/>
              <a:t>short-term serial dependence</a:t>
            </a:r>
            <a:r>
              <a:rPr lang="en-US" dirty="0"/>
              <a:t> and </a:t>
            </a:r>
            <a:r>
              <a:rPr lang="en-US" b="1" dirty="0"/>
              <a:t>weekly seasonality</a:t>
            </a:r>
            <a:r>
              <a:rPr lang="en-US" dirty="0"/>
              <a:t>.</a:t>
            </a:r>
          </a:p>
          <a:p>
            <a:r>
              <a:rPr lang="en-US" dirty="0"/>
              <a:t> this means</a:t>
            </a:r>
            <a:r>
              <a:rPr lang="en-US" baseline="0" dirty="0"/>
              <a:t> that </a:t>
            </a:r>
            <a:endParaRPr lang="en-US" dirty="0"/>
          </a:p>
          <a:p>
            <a:r>
              <a:rPr lang="en-US" dirty="0"/>
              <a:t>There is </a:t>
            </a:r>
            <a:r>
              <a:rPr lang="en-US" b="1" dirty="0"/>
              <a:t>no strong AR(1)</a:t>
            </a:r>
            <a:r>
              <a:rPr lang="en-US" dirty="0"/>
              <a:t> or AR(p) structure.</a:t>
            </a:r>
          </a:p>
          <a:p>
            <a:r>
              <a:rPr lang="en-US" dirty="0"/>
              <a:t>Instead, the differenced series exhibits </a:t>
            </a:r>
            <a:r>
              <a:rPr lang="en-US" b="1" dirty="0"/>
              <a:t>shock-canceling behavior</a:t>
            </a:r>
            <a:r>
              <a:rPr lang="en-US" dirty="0"/>
              <a:t> of MA(q).</a:t>
            </a:r>
          </a:p>
          <a:p>
            <a:endParaRPr lang="en-US" dirty="0"/>
          </a:p>
          <a:p>
            <a:endParaRPr lang="en-US" dirty="0"/>
          </a:p>
          <a:p>
            <a:r>
              <a:rPr lang="en-US" dirty="0"/>
              <a:t>PACF of the differenced series has a few significant early lags but no long tail.</a:t>
            </a:r>
          </a:p>
        </p:txBody>
      </p:sp>
      <p:sp>
        <p:nvSpPr>
          <p:cNvPr id="4" name="Slide Number Placeholder 3"/>
          <p:cNvSpPr>
            <a:spLocks noGrp="1"/>
          </p:cNvSpPr>
          <p:nvPr>
            <p:ph type="sldNum" sz="quarter" idx="5"/>
          </p:nvPr>
        </p:nvSpPr>
        <p:spPr/>
        <p:txBody>
          <a:bodyPr/>
          <a:lstStyle/>
          <a:p>
            <a:fld id="{EE000EEB-8338-48D7-8EE8-EE0082EF7602}" type="slidenum">
              <a:rPr lang="en-US" smtClean="0"/>
              <a:t>10</a:t>
            </a:fld>
            <a:endParaRPr lang="en-US" dirty="0"/>
          </a:p>
        </p:txBody>
      </p:sp>
    </p:spTree>
    <p:extLst>
      <p:ext uri="{BB962C8B-B14F-4D97-AF65-F5344CB8AC3E}">
        <p14:creationId xmlns:p14="http://schemas.microsoft.com/office/powerpoint/2010/main" val="1143694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This model was selected because it minimized AIC and passed all residual diagnostics.</a:t>
                </a:r>
                <a:endParaRPr lang="en-US" b="1" dirty="0"/>
              </a:p>
              <a:p>
                <a:endParaRPr lang="en-US" b="1" dirty="0"/>
              </a:p>
              <a:p>
                <a:endParaRPr lang="en-US" b="1" dirty="0"/>
              </a:p>
              <a:p>
                <a:r>
                  <a:rPr lang="en-US" b="1" dirty="0"/>
                  <a:t>SARIMA Model Structure</a:t>
                </a:r>
              </a:p>
              <a:p>
                <a:r>
                  <a:rPr lang="en-US" dirty="0"/>
                  <a:t>We fit a SARIMA(0,1,2)(2,0,2)_7 model:</a:t>
                </a:r>
              </a:p>
              <a:p>
                <a:r>
                  <a:rPr lang="en-US" dirty="0"/>
                  <a:t>The ‘1’ indicates first differencing to remove the trend</a:t>
                </a:r>
              </a:p>
              <a:p>
                <a:r>
                  <a:rPr lang="en-US" dirty="0"/>
                  <a:t>The ‘MA(2)’ component captures short-term shocks</a:t>
                </a:r>
              </a:p>
              <a:p>
                <a:r>
                  <a:rPr lang="en-US" dirty="0"/>
                  <a:t>The seasonal AR and MA terms capture the weekly pattern</a:t>
                </a:r>
              </a:p>
              <a:p>
                <a:r>
                  <a:rPr lang="en-US" dirty="0"/>
                  <a:t>The period ‘7’ specifies that the season repeats every 7 days</a:t>
                </a:r>
              </a:p>
              <a:p>
                <a:r>
                  <a:rPr lang="en-US" dirty="0"/>
                  <a:t>This model was selected because it minimized AIC and passed all residual diagnostics.”</a:t>
                </a:r>
              </a:p>
              <a:p>
                <a:endParaRPr lang="en-US" dirty="0"/>
              </a:p>
              <a:p>
                <a:endParaRPr lang="en-US" dirty="0"/>
              </a:p>
              <a:p>
                <a:r>
                  <a:rPr lang="en-US" b="1" dirty="0"/>
                  <a:t>Differencing (d = 1) was required because the series is non-stationary</a:t>
                </a:r>
              </a:p>
              <a:p>
                <a:r>
                  <a:rPr lang="en-US" dirty="0"/>
                  <a:t>The Augmented Dickey–Fuller (ADF) test showed:</a:t>
                </a:r>
              </a:p>
              <a:p>
                <a:r>
                  <a:rPr lang="en-US" dirty="0"/>
                  <a:t>The original series </a:t>
                </a:r>
                <a:r>
                  <a:rPr lang="en-US" b="1" dirty="0"/>
                  <a:t>fails</a:t>
                </a:r>
                <a:r>
                  <a:rPr lang="en-US" dirty="0"/>
                  <a:t> the stationarity test</a:t>
                </a:r>
              </a:p>
              <a:p>
                <a:r>
                  <a:rPr lang="en-US" dirty="0"/>
                  <a:t>The first-differenced series </a:t>
                </a:r>
                <a:r>
                  <a:rPr lang="en-US" b="1" dirty="0"/>
                  <a:t>passes strongly</a:t>
                </a:r>
                <a:endParaRPr lang="en-US" dirty="0"/>
              </a:p>
              <a:p>
                <a:r>
                  <a:rPr lang="en-US" dirty="0"/>
                  <a:t>This means the data contains a </a:t>
                </a:r>
                <a:r>
                  <a:rPr lang="en-US" b="1" dirty="0"/>
                  <a:t>trend-like component</a:t>
                </a:r>
                <a:r>
                  <a:rPr lang="en-US" dirty="0"/>
                  <a:t>, and ARIMA modeling requires us to:</a:t>
                </a:r>
              </a:p>
              <a:p>
                <a:pPr/>
                <a14:m>
                  <m:oMathPara xmlns:m="http://schemas.openxmlformats.org/officeDocument/2006/math">
                    <m:oMathParaPr>
                      <m:jc m:val="centerGroup"/>
                    </m:oMathParaPr>
                    <m:oMath xmlns:m="http://schemas.openxmlformats.org/officeDocument/2006/math">
                      <m:r>
                        <m:rPr>
                          <m:nor/>
                        </m:rPr>
                        <a:rPr lang="en-US" b="0"/>
                        <m:t>Difference</m:t>
                      </m:r>
                      <m:r>
                        <m:rPr>
                          <m:nor/>
                        </m:rPr>
                        <a:rPr lang="en-US" b="0" i="1"/>
                        <m:t> </m:t>
                      </m:r>
                      <m:r>
                        <m:rPr>
                          <m:nor/>
                        </m:rPr>
                        <a:rPr lang="en-US" b="0" i="1"/>
                        <m:t>the</m:t>
                      </m:r>
                      <m:r>
                        <m:rPr>
                          <m:nor/>
                        </m:rPr>
                        <a:rPr lang="en-US" b="0" i="1"/>
                        <m:t> </m:t>
                      </m:r>
                      <m:r>
                        <m:rPr>
                          <m:nor/>
                        </m:rPr>
                        <a:rPr lang="en-US" b="0" i="1"/>
                        <m:t>series</m:t>
                      </m:r>
                      <m:r>
                        <m:rPr>
                          <m:nor/>
                        </m:rPr>
                        <a:rPr lang="en-US" b="0" i="1"/>
                        <m:t> </m:t>
                      </m:r>
                      <m:r>
                        <m:rPr>
                          <m:nor/>
                        </m:rPr>
                        <a:rPr lang="en-US" b="0" i="1"/>
                        <m:t>once</m:t>
                      </m:r>
                      <m:r>
                        <a:rPr lang="en-US" sz="1200" b="0" i="0" kern="1200">
                          <a:solidFill>
                            <a:schemeClr val="tx1"/>
                          </a:solidFill>
                          <a:latin typeface="Cambria Math" panose="02040503050406030204" pitchFamily="18" charset="0"/>
                          <a:ea typeface="+mn-ea"/>
                          <a:cs typeface="+mn-cs"/>
                        </a:rPr>
                        <m:t> </m:t>
                      </m:r>
                      <m:d>
                        <m:dPr>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𝑑</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m:t>
                          </m:r>
                        </m:e>
                      </m:d>
                    </m:oMath>
                  </m:oMathPara>
                </a14:m>
                <a:endParaRPr lang="ar-AE" b="0" dirty="0"/>
              </a:p>
              <a:p>
                <a:r>
                  <a:rPr lang="en-US" dirty="0"/>
                  <a:t>This ensures stationarity — a core assumption for ARIMA models.</a:t>
                </a:r>
              </a:p>
              <a:p>
                <a:br>
                  <a:rPr lang="en-US" dirty="0"/>
                </a:br>
                <a:endParaRPr lang="en-US" dirty="0"/>
              </a:p>
              <a:p>
                <a:r>
                  <a:rPr lang="en-US" b="1" dirty="0"/>
                  <a:t>Non-seasonal MA(2) was selected based on ACF &amp; model selection</a:t>
                </a:r>
              </a:p>
              <a:p>
                <a:r>
                  <a:rPr lang="en-US" dirty="0"/>
                  <a:t>After differencing, the </a:t>
                </a:r>
                <a:r>
                  <a:rPr lang="en-US" b="1" dirty="0"/>
                  <a:t>ACF</a:t>
                </a:r>
                <a:r>
                  <a:rPr lang="en-US" dirty="0"/>
                  <a:t> plot showed:</a:t>
                </a:r>
              </a:p>
              <a:p>
                <a:r>
                  <a:rPr lang="en-US" dirty="0"/>
                  <a:t>A strong </a:t>
                </a:r>
                <a:r>
                  <a:rPr lang="en-US" b="1" dirty="0"/>
                  <a:t>cutoff after lag 2</a:t>
                </a:r>
                <a:endParaRPr lang="en-US" dirty="0"/>
              </a:p>
              <a:p>
                <a:r>
                  <a:rPr lang="en-US" dirty="0"/>
                  <a:t>Significant correlations at lags 1 and 2</a:t>
                </a:r>
              </a:p>
              <a:p>
                <a:r>
                  <a:rPr lang="en-US" dirty="0"/>
                  <a:t>PACF did not show strong AR structure</a:t>
                </a:r>
              </a:p>
              <a:p>
                <a:r>
                  <a:rPr lang="en-US" dirty="0"/>
                  <a:t>This pattern is characteristic of a </a:t>
                </a:r>
                <a:r>
                  <a:rPr lang="en-US" b="1" dirty="0"/>
                  <a:t>Moving Average process of order 2</a:t>
                </a:r>
                <a:r>
                  <a:rPr lang="en-US" dirty="0"/>
                  <a:t>:</a:t>
                </a:r>
              </a:p>
              <a:p>
                <a:pPr/>
                <a14:m>
                  <m:oMathPara xmlns:m="http://schemas.openxmlformats.org/officeDocument/2006/math">
                    <m:oMathParaPr>
                      <m:jc m:val="centerGroup"/>
                    </m:oMathParaPr>
                    <m:oMath xmlns:m="http://schemas.openxmlformats.org/officeDocument/2006/math">
                      <m:r>
                        <m:rPr>
                          <m:nor/>
                        </m:rPr>
                        <a:rPr lang="en-US" b="0"/>
                        <m:t>MA</m:t>
                      </m:r>
                      <m:r>
                        <m:rPr>
                          <m:nor/>
                        </m:rPr>
                        <a:rPr lang="en-US" b="0"/>
                        <m:t>(</m:t>
                      </m:r>
                      <m:r>
                        <m:rPr>
                          <m:nor/>
                        </m:rPr>
                        <a:rPr lang="en-US" b="0"/>
                        <m:t>2</m:t>
                      </m:r>
                      <m:r>
                        <m:rPr>
                          <m:nor/>
                        </m:rPr>
                        <a:rPr lang="en-US" b="0"/>
                        <m:t>)</m:t>
                      </m:r>
                      <m:r>
                        <a:rPr lang="en-US" sz="1200" b="0" i="0" kern="1200">
                          <a:solidFill>
                            <a:schemeClr val="tx1"/>
                          </a:solidFill>
                          <a:latin typeface="Cambria Math" panose="02040503050406030204" pitchFamily="18" charset="0"/>
                          <a:ea typeface="+mn-ea"/>
                          <a:cs typeface="+mn-cs"/>
                        </a:rPr>
                        <m:t> ⇒ </m:t>
                      </m:r>
                      <m:r>
                        <a:rPr lang="en-US" sz="1200" b="0" i="1" kern="1200">
                          <a:solidFill>
                            <a:schemeClr val="tx1"/>
                          </a:solidFill>
                          <a:latin typeface="Cambria Math" panose="02040503050406030204" pitchFamily="18" charset="0"/>
                          <a:ea typeface="+mn-ea"/>
                          <a:cs typeface="+mn-cs"/>
                        </a:rPr>
                        <m:t>𝑞</m:t>
                      </m:r>
                      <m:r>
                        <a:rPr lang="en-US" sz="1200" b="0" i="0" kern="1200">
                          <a:solidFill>
                            <a:schemeClr val="tx1"/>
                          </a:solidFill>
                          <a:latin typeface="Cambria Math" panose="02040503050406030204" pitchFamily="18" charset="0"/>
                          <a:ea typeface="+mn-ea"/>
                          <a:cs typeface="+mn-cs"/>
                        </a:rPr>
                        <m:t>=</m:t>
                      </m:r>
                      <m:r>
                        <a:rPr lang="en-US" sz="1200" b="0" i="0" kern="1200">
                          <a:solidFill>
                            <a:schemeClr val="tx1"/>
                          </a:solidFill>
                          <a:latin typeface="Cambria Math" panose="02040503050406030204" pitchFamily="18" charset="0"/>
                          <a:ea typeface="+mn-ea"/>
                          <a:cs typeface="+mn-cs"/>
                        </a:rPr>
                        <m:t>2</m:t>
                      </m:r>
                      <m:r>
                        <a:rPr lang="en-US" sz="1200" b="0" i="0" kern="1200">
                          <a:solidFill>
                            <a:schemeClr val="tx1"/>
                          </a:solidFill>
                          <a:latin typeface="Cambria Math" panose="02040503050406030204" pitchFamily="18" charset="0"/>
                          <a:ea typeface="+mn-ea"/>
                          <a:cs typeface="+mn-cs"/>
                        </a:rPr>
                        <m:t>,</m:t>
                      </m:r>
                      <m:r>
                        <m:rPr>
                          <m:nor/>
                        </m:rPr>
                        <a:rPr lang="en-US" sz="1200" b="0" i="1"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𝑝</m:t>
                      </m:r>
                      <m:r>
                        <a:rPr lang="en-US" sz="1200" b="0" i="0" kern="1200">
                          <a:solidFill>
                            <a:schemeClr val="tx1"/>
                          </a:solidFill>
                          <a:latin typeface="Cambria Math" panose="02040503050406030204" pitchFamily="18" charset="0"/>
                          <a:ea typeface="+mn-ea"/>
                          <a:cs typeface="+mn-cs"/>
                        </a:rPr>
                        <m:t>=</m:t>
                      </m:r>
                      <m:r>
                        <a:rPr lang="en-US" sz="1200" b="0" i="0" kern="1200">
                          <a:solidFill>
                            <a:schemeClr val="tx1"/>
                          </a:solidFill>
                          <a:latin typeface="Cambria Math" panose="02040503050406030204" pitchFamily="18" charset="0"/>
                          <a:ea typeface="+mn-ea"/>
                          <a:cs typeface="+mn-cs"/>
                        </a:rPr>
                        <m:t>0</m:t>
                      </m:r>
                    </m:oMath>
                  </m:oMathPara>
                </a14:m>
                <a:endParaRPr lang="en-US" b="0" dirty="0"/>
              </a:p>
              <a:p>
                <a:r>
                  <a:rPr lang="en-US" dirty="0"/>
                  <a:t>Additionally:</a:t>
                </a:r>
              </a:p>
              <a:p>
                <a:r>
                  <a:rPr lang="en-US" dirty="0"/>
                  <a:t>IC metrics (AIC, </a:t>
                </a:r>
                <a:r>
                  <a:rPr lang="en-US" dirty="0" err="1"/>
                  <a:t>AICc</a:t>
                </a:r>
                <a:r>
                  <a:rPr lang="en-US" dirty="0"/>
                  <a:t>) were lower for MA(2) compared to alternatives</a:t>
                </a:r>
              </a:p>
              <a:p>
                <a:r>
                  <a:rPr lang="en-US" dirty="0"/>
                  <a:t>MA(2) helped whiten residuals — no significant autocorrelation remained</a:t>
                </a:r>
              </a:p>
              <a:p>
                <a:r>
                  <a:rPr lang="en-US" dirty="0"/>
                  <a:t>Thus, </a:t>
                </a:r>
                <a:r>
                  <a:rPr lang="en-US" b="1" dirty="0"/>
                  <a:t>(0,1,2)</a:t>
                </a:r>
                <a:r>
                  <a:rPr lang="en-US" dirty="0"/>
                  <a:t> was selected for the non-seasonal component.</a:t>
                </a:r>
              </a:p>
              <a:p>
                <a:br>
                  <a:rPr lang="en-US" dirty="0"/>
                </a:br>
                <a:endParaRPr lang="en-US" dirty="0"/>
              </a:p>
              <a:p>
                <a:r>
                  <a:rPr lang="en-US" b="1" dirty="0"/>
                  <a:t>Weekly seasonality required a 7-period seasonal model</a:t>
                </a:r>
              </a:p>
              <a:p>
                <a:r>
                  <a:rPr lang="en-US" dirty="0"/>
                  <a:t>Daily warehouse operations commonly exhibit a </a:t>
                </a:r>
                <a:r>
                  <a:rPr lang="en-US" b="1" dirty="0"/>
                  <a:t>7-day cycle</a:t>
                </a:r>
                <a:r>
                  <a:rPr lang="en-US" dirty="0"/>
                  <a:t>.</a:t>
                </a:r>
              </a:p>
              <a:p>
                <a:r>
                  <a:rPr lang="en-US" dirty="0"/>
                  <a:t>Both diagnostics and business logic supported weekly seasonality:</a:t>
                </a:r>
              </a:p>
              <a:p>
                <a:r>
                  <a:rPr lang="en-US" dirty="0"/>
                  <a:t>ACF spikes at lag </a:t>
                </a:r>
                <a:r>
                  <a:rPr lang="en-US" b="1" dirty="0"/>
                  <a:t>7, 14, 21</a:t>
                </a:r>
                <a:endParaRPr lang="en-US" dirty="0"/>
              </a:p>
              <a:p>
                <a:r>
                  <a:rPr lang="en-US" dirty="0"/>
                  <a:t>Clear weekly variation in space usage</a:t>
                </a:r>
              </a:p>
              <a:p>
                <a:r>
                  <a:rPr lang="en-US" dirty="0"/>
                  <a:t>Lower AIC for models including seasonality</a:t>
                </a:r>
              </a:p>
              <a:p>
                <a:r>
                  <a:rPr lang="en-US" dirty="0"/>
                  <a:t>Improved residual behavior</a:t>
                </a:r>
              </a:p>
              <a:p>
                <a:r>
                  <a:rPr lang="en-US" dirty="0"/>
                  <a:t>Thus, a seasonal period of:</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𝑠</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7</m:t>
                      </m:r>
                      <m:r>
                        <a:rPr lang="en-US" sz="1200" i="0" kern="1200">
                          <a:solidFill>
                            <a:schemeClr val="tx1"/>
                          </a:solidFill>
                          <a:latin typeface="Cambria Math" panose="02040503050406030204" pitchFamily="18" charset="0"/>
                          <a:ea typeface="+mn-ea"/>
                          <a:cs typeface="+mn-cs"/>
                        </a:rPr>
                        <m:t> </m:t>
                      </m:r>
                      <m:r>
                        <m:rPr>
                          <m:nor/>
                        </m:rPr>
                        <a:rPr lang="en-US" sz="1200" b="0" i="1" kern="1200">
                          <a:solidFill>
                            <a:schemeClr val="tx1"/>
                          </a:solidFill>
                          <a:latin typeface="+mn-lt"/>
                          <a:ea typeface="+mn-ea"/>
                          <a:cs typeface="+mn-cs"/>
                        </a:rPr>
                        <m:t>(</m:t>
                      </m:r>
                      <m:r>
                        <m:rPr>
                          <m:nor/>
                        </m:rPr>
                        <a:rPr lang="en-US" sz="1200" b="0" i="1" kern="1200">
                          <a:solidFill>
                            <a:schemeClr val="tx1"/>
                          </a:solidFill>
                          <a:latin typeface="+mn-lt"/>
                          <a:ea typeface="+mn-ea"/>
                          <a:cs typeface="+mn-cs"/>
                        </a:rPr>
                        <m:t>weekly</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seasonality</m:t>
                      </m:r>
                      <m:r>
                        <m:rPr>
                          <m:nor/>
                        </m:rPr>
                        <a:rPr lang="en-US" sz="1200" b="0" i="1" kern="1200">
                          <a:solidFill>
                            <a:schemeClr val="tx1"/>
                          </a:solidFill>
                          <a:latin typeface="+mn-lt"/>
                          <a:ea typeface="+mn-ea"/>
                          <a:cs typeface="+mn-cs"/>
                        </a:rPr>
                        <m:t>)</m:t>
                      </m:r>
                    </m:oMath>
                  </m:oMathPara>
                </a14:m>
                <a:endParaRPr lang="en-US" b="0" dirty="0"/>
              </a:p>
              <a:p>
                <a:r>
                  <a:rPr lang="en-US" dirty="0"/>
                  <a:t>was appropriate.</a:t>
                </a:r>
              </a:p>
              <a:p>
                <a:br>
                  <a:rPr lang="en-US" dirty="0"/>
                </a:br>
                <a:endParaRPr lang="en-US" dirty="0"/>
              </a:p>
              <a:p>
                <a:r>
                  <a:rPr lang="en-US" b="1" dirty="0"/>
                  <a:t>Seasonal AR(2) (P = 2) captures repeated weekly patterns</a:t>
                </a:r>
              </a:p>
              <a:p>
                <a:r>
                  <a:rPr lang="en-US" dirty="0"/>
                  <a:t>The </a:t>
                </a:r>
                <a:r>
                  <a:rPr lang="en-US" b="1" dirty="0"/>
                  <a:t>PACF</a:t>
                </a:r>
                <a:r>
                  <a:rPr lang="en-US" dirty="0"/>
                  <a:t> of the differenced series showed significant seasonal spikes at:</a:t>
                </a:r>
              </a:p>
              <a:p>
                <a:r>
                  <a:rPr lang="en-US" dirty="0"/>
                  <a:t>Lag 7</a:t>
                </a:r>
              </a:p>
              <a:p>
                <a:r>
                  <a:rPr lang="en-US" dirty="0"/>
                  <a:t>Lag 14</a:t>
                </a:r>
              </a:p>
              <a:p>
                <a:r>
                  <a:rPr lang="en-US" dirty="0"/>
                  <a:t>This indicates a </a:t>
                </a:r>
                <a:r>
                  <a:rPr lang="en-US" b="1" dirty="0"/>
                  <a:t>Seasonal </a:t>
                </a:r>
                <a:r>
                  <a:rPr lang="en-US" b="1" dirty="0" err="1"/>
                  <a:t>AutoRegressive</a:t>
                </a:r>
                <a:r>
                  <a:rPr lang="en-US" b="1" dirty="0"/>
                  <a:t> (SAR) structure</a:t>
                </a:r>
                <a:r>
                  <a:rPr lang="en-US" dirty="0"/>
                  <a:t> of order 2:</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m:rPr>
                              <m:sty m:val="p"/>
                            </m:rPr>
                            <a:rPr lang="el-GR" sz="1200" kern="1200">
                              <a:solidFill>
                                <a:schemeClr val="tx1"/>
                              </a:solidFill>
                              <a:latin typeface="Cambria Math" panose="02040503050406030204" pitchFamily="18" charset="0"/>
                              <a:ea typeface="+mn-ea"/>
                              <a:cs typeface="+mn-cs"/>
                            </a:rPr>
                            <m:t>Φ</m:t>
                          </m:r>
                        </m:e>
                        <m:sub>
                          <m:r>
                            <a:rPr lang="ar-AE" sz="1200" i="0" kern="1200">
                              <a:solidFill>
                                <a:schemeClr val="tx1"/>
                              </a:solidFill>
                              <a:latin typeface="Cambria Math" panose="02040503050406030204" pitchFamily="18" charset="0"/>
                              <a:ea typeface="+mn-ea"/>
                              <a:cs typeface="+mn-cs"/>
                            </a:rPr>
                            <m:t>1</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7</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m:rPr>
                              <m:sty m:val="p"/>
                            </m:rPr>
                            <a:rPr lang="el-GR" sz="1200" i="0" kern="1200">
                              <a:solidFill>
                                <a:schemeClr val="tx1"/>
                              </a:solidFill>
                              <a:latin typeface="Cambria Math" panose="02040503050406030204" pitchFamily="18" charset="0"/>
                              <a:ea typeface="+mn-ea"/>
                              <a:cs typeface="+mn-cs"/>
                            </a:rPr>
                            <m:t>Φ</m:t>
                          </m:r>
                        </m:e>
                        <m:sub>
                          <m:r>
                            <a:rPr lang="ar-AE" sz="1200" i="0" kern="1200">
                              <a:solidFill>
                                <a:schemeClr val="tx1"/>
                              </a:solidFill>
                              <a:latin typeface="Cambria Math" panose="02040503050406030204" pitchFamily="18" charset="0"/>
                              <a:ea typeface="+mn-ea"/>
                              <a:cs typeface="+mn-cs"/>
                            </a:rPr>
                            <m:t>2</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14</m:t>
                          </m:r>
                        </m:sub>
                      </m:sSub>
                    </m:oMath>
                  </m:oMathPara>
                </a14:m>
                <a:endParaRPr lang="ar-AE" dirty="0"/>
              </a:p>
              <a:p>
                <a:r>
                  <a:rPr lang="en-US" dirty="0"/>
                  <a:t>Including SAR(2):</a:t>
                </a:r>
              </a:p>
              <a:p>
                <a:r>
                  <a:rPr lang="en-US" dirty="0"/>
                  <a:t>Captures the weekly “momentum” of space usage</a:t>
                </a:r>
              </a:p>
              <a:p>
                <a:r>
                  <a:rPr lang="en-US" dirty="0"/>
                  <a:t>Helps the model learn systematic behaviors such as repeated weekly peaks</a:t>
                </a:r>
              </a:p>
              <a:p>
                <a:r>
                  <a:rPr lang="en-US" dirty="0"/>
                  <a:t>Reduced residual autocorrelation at seasonal lags</a:t>
                </a:r>
              </a:p>
              <a:p>
                <a:r>
                  <a:rPr lang="en-US" dirty="0"/>
                  <a:t>Thus: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𝑃</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2</m:t>
                      </m:r>
                    </m:oMath>
                  </m:oMathPara>
                </a14:m>
                <a:endParaRPr lang="en-US" dirty="0"/>
              </a:p>
              <a:p>
                <a:br>
                  <a:rPr lang="en-US" dirty="0"/>
                </a:br>
                <a:endParaRPr lang="en-US" dirty="0"/>
              </a:p>
              <a:p>
                <a:r>
                  <a:rPr lang="en-US" b="1" dirty="0"/>
                  <a:t>5. Seasonal MA(2) (Q = 2) captures shocks that repeat weekly</a:t>
                </a:r>
              </a:p>
              <a:p>
                <a:r>
                  <a:rPr lang="en-US" dirty="0"/>
                  <a:t>The seasonal ACF also showed:</a:t>
                </a:r>
              </a:p>
              <a:p>
                <a:r>
                  <a:rPr lang="en-US" dirty="0"/>
                  <a:t>Strong spikes at lags </a:t>
                </a:r>
                <a:r>
                  <a:rPr lang="en-US" b="1" dirty="0"/>
                  <a:t>7 and 14</a:t>
                </a:r>
                <a:endParaRPr lang="en-US" dirty="0"/>
              </a:p>
              <a:p>
                <a:r>
                  <a:rPr lang="en-US" dirty="0"/>
                  <a:t>Patterns that decay after seasonal differencing</a:t>
                </a:r>
              </a:p>
              <a:p>
                <a:r>
                  <a:rPr lang="en-US" dirty="0"/>
                  <a:t>This behavior suggests a </a:t>
                </a:r>
                <a:r>
                  <a:rPr lang="en-US" b="1" dirty="0"/>
                  <a:t>Seasonal Moving Average (SMA)</a:t>
                </a:r>
                <a:r>
                  <a:rPr lang="en-US" dirty="0"/>
                  <a:t> component:</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m:rPr>
                              <m:sty m:val="p"/>
                            </m:rPr>
                            <a:rPr lang="el-GR" sz="1200" kern="1200">
                              <a:solidFill>
                                <a:schemeClr val="tx1"/>
                              </a:solidFill>
                              <a:latin typeface="Cambria Math" panose="02040503050406030204" pitchFamily="18" charset="0"/>
                              <a:ea typeface="+mn-ea"/>
                              <a:cs typeface="+mn-cs"/>
                            </a:rPr>
                            <m:t>Θ</m:t>
                          </m:r>
                        </m:e>
                        <m:sub>
                          <m:r>
                            <a:rPr lang="ar-AE" sz="1200" i="0" kern="1200">
                              <a:solidFill>
                                <a:schemeClr val="tx1"/>
                              </a:solidFill>
                              <a:latin typeface="Cambria Math" panose="02040503050406030204" pitchFamily="18" charset="0"/>
                              <a:ea typeface="+mn-ea"/>
                              <a:cs typeface="+mn-cs"/>
                            </a:rPr>
                            <m:t>1</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𝜀</m:t>
                          </m:r>
                        </m:e>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7</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m:rPr>
                              <m:sty m:val="p"/>
                            </m:rPr>
                            <a:rPr lang="el-GR" sz="1200" i="0" kern="1200">
                              <a:solidFill>
                                <a:schemeClr val="tx1"/>
                              </a:solidFill>
                              <a:latin typeface="Cambria Math" panose="02040503050406030204" pitchFamily="18" charset="0"/>
                              <a:ea typeface="+mn-ea"/>
                              <a:cs typeface="+mn-cs"/>
                            </a:rPr>
                            <m:t>Θ</m:t>
                          </m:r>
                        </m:e>
                        <m:sub>
                          <m:r>
                            <a:rPr lang="ar-AE" sz="1200" i="0" kern="1200">
                              <a:solidFill>
                                <a:schemeClr val="tx1"/>
                              </a:solidFill>
                              <a:latin typeface="Cambria Math" panose="02040503050406030204" pitchFamily="18" charset="0"/>
                              <a:ea typeface="+mn-ea"/>
                              <a:cs typeface="+mn-cs"/>
                            </a:rPr>
                            <m:t>2</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𝜀</m:t>
                          </m:r>
                        </m:e>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14</m:t>
                          </m:r>
                        </m:sub>
                      </m:sSub>
                    </m:oMath>
                  </m:oMathPara>
                </a14:m>
                <a:endParaRPr lang="ar-AE" dirty="0"/>
              </a:p>
              <a:p>
                <a:r>
                  <a:rPr lang="en-US" dirty="0"/>
                  <a:t>Including SMA terms:</a:t>
                </a:r>
              </a:p>
              <a:p>
                <a:r>
                  <a:rPr lang="en-US" dirty="0"/>
                  <a:t>Accounts for unexpected shocks that persist on a weekly basis</a:t>
                </a:r>
              </a:p>
              <a:p>
                <a:r>
                  <a:rPr lang="en-US" dirty="0"/>
                  <a:t>Greatly improved residual diagnostics</a:t>
                </a:r>
              </a:p>
              <a:p>
                <a:r>
                  <a:rPr lang="en-US" dirty="0"/>
                  <a:t>Further minimized AIC/</a:t>
                </a:r>
                <a:r>
                  <a:rPr lang="en-US" dirty="0" err="1"/>
                  <a:t>AICc</a:t>
                </a:r>
                <a:r>
                  <a:rPr lang="en-US" dirty="0"/>
                  <a:t> relative to SAR(2) alone</a:t>
                </a:r>
              </a:p>
              <a:p>
                <a:r>
                  <a:rPr lang="en-US" dirty="0"/>
                  <a:t>Thus: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𝑄</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2</m:t>
                      </m:r>
                    </m:oMath>
                  </m:oMathPara>
                </a14:m>
                <a:endParaRPr lang="en-US" dirty="0"/>
              </a:p>
              <a:p>
                <a:br>
                  <a:rPr lang="en-US" dirty="0"/>
                </a:br>
                <a:endParaRPr lang="en-US" dirty="0"/>
              </a:p>
              <a:p>
                <a:r>
                  <a:rPr lang="en-US" b="1" dirty="0"/>
                  <a:t>Overall Model Fit Was Superior</a:t>
                </a:r>
              </a:p>
              <a:p>
                <a:r>
                  <a:rPr lang="en-US" dirty="0"/>
                  <a:t>Model comparison using AIC/</a:t>
                </a:r>
                <a:r>
                  <a:rPr lang="en-US" dirty="0" err="1"/>
                  <a:t>AICc</a:t>
                </a:r>
                <a:r>
                  <a:rPr lang="en-US" dirty="0"/>
                  <a:t>/BIC showed:</a:t>
                </a:r>
              </a:p>
              <a:p>
                <a:r>
                  <a:rPr lang="en-US" dirty="0"/>
                  <a:t>Model </a:t>
                </a:r>
                <a:r>
                  <a:rPr lang="en-US" dirty="0" err="1"/>
                  <a:t>TestedAIC</a:t>
                </a:r>
                <a:r>
                  <a:rPr lang="en-US" dirty="0"/>
                  <a:t> </a:t>
                </a:r>
                <a:r>
                  <a:rPr lang="en-US" dirty="0" err="1"/>
                  <a:t>ScoreResidual</a:t>
                </a:r>
                <a:r>
                  <a:rPr lang="en-US" dirty="0"/>
                  <a:t> </a:t>
                </a:r>
                <a:r>
                  <a:rPr lang="en-US" dirty="0" err="1"/>
                  <a:t>Issues?ARIMA</a:t>
                </a:r>
                <a:r>
                  <a:rPr lang="en-US" dirty="0"/>
                  <a:t>(0,1,1)</a:t>
                </a:r>
                <a:r>
                  <a:rPr lang="en-US" dirty="0" err="1"/>
                  <a:t>HigherSeasonal</a:t>
                </a:r>
                <a:r>
                  <a:rPr lang="en-US" dirty="0"/>
                  <a:t> autocorrelation </a:t>
                </a:r>
                <a:r>
                  <a:rPr lang="en-US" dirty="0" err="1"/>
                  <a:t>remainsSARIMA</a:t>
                </a:r>
                <a:r>
                  <a:rPr lang="en-US" dirty="0"/>
                  <a:t>(0,1,1)(1,0,1)\₇Improved but still autocorrelation</a:t>
                </a:r>
              </a:p>
              <a:p>
                <a:endParaRPr lang="en-US" b="1" dirty="0"/>
              </a:p>
              <a:p>
                <a:r>
                  <a:rPr lang="en-US" b="1" dirty="0"/>
                  <a:t>SARIMA(0,1,2)(2,0,2)\₇Lowest </a:t>
                </a:r>
                <a:r>
                  <a:rPr lang="en-US" b="1" dirty="0" err="1"/>
                  <a:t>AICResiduals</a:t>
                </a:r>
                <a:r>
                  <a:rPr lang="en-US" b="1" dirty="0"/>
                  <a:t> pass Q-tests</a:t>
                </a:r>
                <a:endParaRPr lang="en-US" dirty="0"/>
              </a:p>
              <a:p>
                <a:r>
                  <a:rPr lang="en-US" dirty="0"/>
                  <a:t>Residual diagnostics confirmed:</a:t>
                </a:r>
              </a:p>
              <a:p>
                <a:r>
                  <a:rPr lang="en-US" dirty="0"/>
                  <a:t>No remaining autocorrelation (Ljung–Box p &gt; 0.10)</a:t>
                </a:r>
              </a:p>
              <a:p>
                <a:r>
                  <a:rPr lang="en-US" dirty="0"/>
                  <a:t>Residuals resemble white noise</a:t>
                </a:r>
              </a:p>
              <a:p>
                <a:r>
                  <a:rPr lang="en-US" dirty="0"/>
                  <a:t>Forecast errors minimized</a:t>
                </a:r>
              </a:p>
              <a:p>
                <a:r>
                  <a:rPr lang="en-US" dirty="0"/>
                  <a:t>Seasonality fully captured</a:t>
                </a:r>
              </a:p>
              <a:p>
                <a:r>
                  <a:rPr lang="en-US" dirty="0"/>
                  <a:t>This made the chosen model </a:t>
                </a:r>
                <a:r>
                  <a:rPr lang="en-US" b="1" dirty="0"/>
                  <a:t>statistically optimal</a:t>
                </a:r>
                <a:r>
                  <a:rPr lang="en-US" dirty="0"/>
                  <a:t> among candidates.</a:t>
                </a:r>
              </a:p>
              <a:p>
                <a:br>
                  <a:rPr lang="en-US" dirty="0"/>
                </a:br>
                <a:endParaRPr lang="en-US" dirty="0"/>
              </a:p>
              <a:p>
                <a:r>
                  <a:rPr lang="en-US" b="1" dirty="0"/>
                  <a:t>Practical Justification (Operational Logic)</a:t>
                </a:r>
              </a:p>
              <a:p>
                <a:r>
                  <a:rPr lang="en-US" dirty="0"/>
                  <a:t>Beyond the statistical fit, this model makes sense operationally:</a:t>
                </a:r>
              </a:p>
              <a:p>
                <a:r>
                  <a:rPr lang="en-US" dirty="0"/>
                  <a:t>Space usage follows a </a:t>
                </a:r>
                <a:r>
                  <a:rPr lang="en-US" b="1" dirty="0"/>
                  <a:t>weekly rhythm</a:t>
                </a:r>
                <a:r>
                  <a:rPr lang="en-US" dirty="0"/>
                  <a:t> (due to staffing, deliveries, production cycles)</a:t>
                </a:r>
              </a:p>
              <a:p>
                <a:r>
                  <a:rPr lang="en-US" dirty="0"/>
                  <a:t>Day-to-day space usage is noisy → MA terms help capture short-lived shocks</a:t>
                </a:r>
              </a:p>
              <a:p>
                <a:r>
                  <a:rPr lang="en-US" dirty="0"/>
                  <a:t>Weekly patterns persist → SAR and SMA terms reflect genuine warehouse behavior</a:t>
                </a:r>
              </a:p>
              <a:p>
                <a:r>
                  <a:rPr lang="en-US" dirty="0"/>
                  <a:t>The single differencing captures slow-changing capacity trends or gradual shifts in SKU mix</a:t>
                </a:r>
              </a:p>
              <a:p>
                <a:r>
                  <a:rPr lang="en-US" dirty="0"/>
                  <a:t>So the model aligns with </a:t>
                </a:r>
                <a:r>
                  <a:rPr lang="en-US" b="1" dirty="0"/>
                  <a:t>real operational mechanisms</a:t>
                </a:r>
                <a:r>
                  <a:rPr lang="en-US" dirty="0"/>
                  <a:t>.</a:t>
                </a:r>
              </a:p>
              <a:p>
                <a:endParaRPr lang="en-US" dirty="0"/>
              </a:p>
            </p:txBody>
          </p:sp>
        </mc:Choice>
        <mc:Fallback xmlns="">
          <p:sp>
            <p:nvSpPr>
              <p:cNvPr id="3" name="Notes Placeholder 2"/>
              <p:cNvSpPr>
                <a:spLocks noGrp="1"/>
              </p:cNvSpPr>
              <p:nvPr>
                <p:ph type="body" idx="1"/>
              </p:nvPr>
            </p:nvSpPr>
            <p:spPr/>
            <p:txBody>
              <a:bodyPr/>
              <a:lstStyle/>
              <a:p>
                <a:r>
                  <a:rPr lang="en-US" dirty="0"/>
                  <a:t>This model was selected because it minimized AIC and passed all residual diagnostics.</a:t>
                </a:r>
                <a:endParaRPr lang="en-US" b="1" dirty="0"/>
              </a:p>
              <a:p>
                <a:endParaRPr lang="en-US" b="1" dirty="0"/>
              </a:p>
              <a:p>
                <a:endParaRPr lang="en-US" b="1" dirty="0"/>
              </a:p>
              <a:p>
                <a:r>
                  <a:rPr lang="en-US" b="1" dirty="0"/>
                  <a:t>SARIMA Model Structure</a:t>
                </a:r>
              </a:p>
              <a:p>
                <a:r>
                  <a:rPr lang="en-US" dirty="0"/>
                  <a:t>We fit a SARIMA(0,1,2)(2,0,2)_7 model:</a:t>
                </a:r>
              </a:p>
              <a:p>
                <a:r>
                  <a:rPr lang="en-US" dirty="0"/>
                  <a:t>The ‘1’ indicates first differencing to remove the trend</a:t>
                </a:r>
              </a:p>
              <a:p>
                <a:r>
                  <a:rPr lang="en-US" dirty="0"/>
                  <a:t>The ‘MA(2)’ component captures short-term shocks</a:t>
                </a:r>
              </a:p>
              <a:p>
                <a:r>
                  <a:rPr lang="en-US" dirty="0"/>
                  <a:t>The seasonal AR and MA terms capture the weekly pattern</a:t>
                </a:r>
              </a:p>
              <a:p>
                <a:r>
                  <a:rPr lang="en-US" dirty="0"/>
                  <a:t>The period ‘7’ specifies that the season repeats every 7 days</a:t>
                </a:r>
              </a:p>
              <a:p>
                <a:r>
                  <a:rPr lang="en-US" dirty="0"/>
                  <a:t>This model was selected because it minimized AIC and passed all residual diagnostics.”</a:t>
                </a:r>
              </a:p>
              <a:p>
                <a:endParaRPr lang="en-US" dirty="0"/>
              </a:p>
              <a:p>
                <a:endParaRPr lang="en-US" dirty="0"/>
              </a:p>
              <a:p>
                <a:r>
                  <a:rPr lang="en-US" b="1" dirty="0"/>
                  <a:t>Differencing (d = 1) was required because the series is non-stationary</a:t>
                </a:r>
              </a:p>
              <a:p>
                <a:r>
                  <a:rPr lang="en-US" dirty="0"/>
                  <a:t>The Augmented Dickey–Fuller (ADF) test showed:</a:t>
                </a:r>
              </a:p>
              <a:p>
                <a:r>
                  <a:rPr lang="en-US" dirty="0"/>
                  <a:t>The original series </a:t>
                </a:r>
                <a:r>
                  <a:rPr lang="en-US" b="1" dirty="0"/>
                  <a:t>fails</a:t>
                </a:r>
                <a:r>
                  <a:rPr lang="en-US" dirty="0"/>
                  <a:t> the stationarity test</a:t>
                </a:r>
              </a:p>
              <a:p>
                <a:r>
                  <a:rPr lang="en-US" dirty="0"/>
                  <a:t>The first-differenced series </a:t>
                </a:r>
                <a:r>
                  <a:rPr lang="en-US" b="1" dirty="0"/>
                  <a:t>passes strongly</a:t>
                </a:r>
                <a:endParaRPr lang="en-US" dirty="0"/>
              </a:p>
              <a:p>
                <a:r>
                  <a:rPr lang="en-US" dirty="0"/>
                  <a:t>This means the data contains a </a:t>
                </a:r>
                <a:r>
                  <a:rPr lang="en-US" b="1" dirty="0"/>
                  <a:t>trend-like component</a:t>
                </a:r>
                <a:r>
                  <a:rPr lang="en-US" dirty="0"/>
                  <a:t>, and ARIMA modeling requires us to:</a:t>
                </a:r>
              </a:p>
              <a:p>
                <a:r>
                  <a:rPr lang="en-US" b="0" i="0">
                    <a:latin typeface="Cambria Math" panose="02040503050406030204" pitchFamily="18" charset="0"/>
                  </a:rPr>
                  <a:t>"Difference the series once</a:t>
                </a:r>
                <a:r>
                  <a:rPr lang="en-US" sz="1200" b="0" i="0" kern="1200">
                    <a:solidFill>
                      <a:schemeClr val="tx1"/>
                    </a:solidFill>
                    <a:latin typeface="+mn-lt"/>
                    <a:ea typeface="+mn-ea"/>
                    <a:cs typeface="+mn-cs"/>
                  </a:rPr>
                  <a:t>" </a:t>
                </a:r>
                <a:r>
                  <a:rPr lang="ar-AE" sz="1200" b="0" i="0" kern="1200">
                    <a:solidFill>
                      <a:schemeClr val="tx1"/>
                    </a:solidFill>
                    <a:latin typeface="+mn-lt"/>
                    <a:ea typeface="+mn-ea"/>
                    <a:cs typeface="+mn-cs"/>
                  </a:rPr>
                  <a:t>(𝑑=1)</a:t>
                </a:r>
                <a:endParaRPr lang="ar-AE" b="0" dirty="0"/>
              </a:p>
              <a:p>
                <a:r>
                  <a:rPr lang="en-US" dirty="0"/>
                  <a:t>This ensures stationarity — a core assumption for ARIMA models.</a:t>
                </a:r>
              </a:p>
              <a:p>
                <a:br>
                  <a:rPr lang="en-US" dirty="0"/>
                </a:br>
                <a:endParaRPr lang="en-US" dirty="0"/>
              </a:p>
              <a:p>
                <a:r>
                  <a:rPr lang="en-US" b="1" dirty="0"/>
                  <a:t>Non-seasonal MA(2) was selected based on ACF &amp; model selection</a:t>
                </a:r>
              </a:p>
              <a:p>
                <a:r>
                  <a:rPr lang="en-US" dirty="0"/>
                  <a:t>After differencing, the </a:t>
                </a:r>
                <a:r>
                  <a:rPr lang="en-US" b="1" dirty="0"/>
                  <a:t>ACF</a:t>
                </a:r>
                <a:r>
                  <a:rPr lang="en-US" dirty="0"/>
                  <a:t> plot showed:</a:t>
                </a:r>
              </a:p>
              <a:p>
                <a:r>
                  <a:rPr lang="en-US" dirty="0"/>
                  <a:t>A strong </a:t>
                </a:r>
                <a:r>
                  <a:rPr lang="en-US" b="1" dirty="0"/>
                  <a:t>cutoff after lag 2</a:t>
                </a:r>
                <a:endParaRPr lang="en-US" dirty="0"/>
              </a:p>
              <a:p>
                <a:r>
                  <a:rPr lang="en-US" dirty="0"/>
                  <a:t>Significant correlations at lags 1 and 2</a:t>
                </a:r>
              </a:p>
              <a:p>
                <a:r>
                  <a:rPr lang="en-US" dirty="0"/>
                  <a:t>PACF did not show strong AR structure</a:t>
                </a:r>
              </a:p>
              <a:p>
                <a:r>
                  <a:rPr lang="en-US" dirty="0"/>
                  <a:t>This pattern is characteristic of a </a:t>
                </a:r>
                <a:r>
                  <a:rPr lang="en-US" b="1" dirty="0"/>
                  <a:t>Moving Average process of order 2</a:t>
                </a:r>
                <a:r>
                  <a:rPr lang="en-US" dirty="0"/>
                  <a:t>:</a:t>
                </a:r>
              </a:p>
              <a:p>
                <a:r>
                  <a:rPr lang="en-US" b="0" i="0">
                    <a:latin typeface="Cambria Math" panose="02040503050406030204" pitchFamily="18" charset="0"/>
                  </a:rPr>
                  <a:t>"MA(2)</a:t>
                </a:r>
                <a:r>
                  <a:rPr lang="en-US" sz="1200" b="0" i="0" kern="1200">
                    <a:solidFill>
                      <a:schemeClr val="tx1"/>
                    </a:solidFill>
                    <a:latin typeface="+mn-lt"/>
                    <a:ea typeface="+mn-ea"/>
                    <a:cs typeface="+mn-cs"/>
                  </a:rPr>
                  <a:t>" ⇒ 𝑞=2,</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𝑝=0</a:t>
                </a:r>
                <a:endParaRPr lang="en-US" b="0" dirty="0"/>
              </a:p>
              <a:p>
                <a:r>
                  <a:rPr lang="en-US" dirty="0"/>
                  <a:t>Additionally:</a:t>
                </a:r>
              </a:p>
              <a:p>
                <a:r>
                  <a:rPr lang="en-US" dirty="0"/>
                  <a:t>IC metrics (AIC, </a:t>
                </a:r>
                <a:r>
                  <a:rPr lang="en-US" dirty="0" err="1"/>
                  <a:t>AICc</a:t>
                </a:r>
                <a:r>
                  <a:rPr lang="en-US" dirty="0"/>
                  <a:t>) were lower for MA(2) compared to alternatives</a:t>
                </a:r>
              </a:p>
              <a:p>
                <a:r>
                  <a:rPr lang="en-US" dirty="0"/>
                  <a:t>MA(2) helped whiten residuals — no significant autocorrelation remained</a:t>
                </a:r>
              </a:p>
              <a:p>
                <a:r>
                  <a:rPr lang="en-US" dirty="0"/>
                  <a:t>Thus, </a:t>
                </a:r>
                <a:r>
                  <a:rPr lang="en-US" b="1" dirty="0"/>
                  <a:t>(0,1,2)</a:t>
                </a:r>
                <a:r>
                  <a:rPr lang="en-US" dirty="0"/>
                  <a:t> was selected for the non-seasonal component.</a:t>
                </a:r>
              </a:p>
              <a:p>
                <a:br>
                  <a:rPr lang="en-US" dirty="0"/>
                </a:br>
                <a:endParaRPr lang="en-US" dirty="0"/>
              </a:p>
              <a:p>
                <a:r>
                  <a:rPr lang="en-US" b="1" dirty="0"/>
                  <a:t>Weekly seasonality required a 7-period seasonal model</a:t>
                </a:r>
              </a:p>
              <a:p>
                <a:r>
                  <a:rPr lang="en-US" dirty="0"/>
                  <a:t>Daily warehouse operations commonly exhibit a </a:t>
                </a:r>
                <a:r>
                  <a:rPr lang="en-US" b="1" dirty="0"/>
                  <a:t>7-day cycle</a:t>
                </a:r>
                <a:r>
                  <a:rPr lang="en-US" dirty="0"/>
                  <a:t>.</a:t>
                </a:r>
              </a:p>
              <a:p>
                <a:r>
                  <a:rPr lang="en-US" dirty="0"/>
                  <a:t>Both diagnostics and business logic supported weekly seasonality:</a:t>
                </a:r>
              </a:p>
              <a:p>
                <a:r>
                  <a:rPr lang="en-US" dirty="0"/>
                  <a:t>ACF spikes at lag </a:t>
                </a:r>
                <a:r>
                  <a:rPr lang="en-US" b="1" dirty="0"/>
                  <a:t>7, 14, 21</a:t>
                </a:r>
                <a:endParaRPr lang="en-US" dirty="0"/>
              </a:p>
              <a:p>
                <a:r>
                  <a:rPr lang="en-US" dirty="0"/>
                  <a:t>Clear weekly variation in space usage</a:t>
                </a:r>
              </a:p>
              <a:p>
                <a:r>
                  <a:rPr lang="en-US" dirty="0"/>
                  <a:t>Lower AIC for models including seasonality</a:t>
                </a:r>
              </a:p>
              <a:p>
                <a:r>
                  <a:rPr lang="en-US" dirty="0"/>
                  <a:t>Improved residual behavior</a:t>
                </a:r>
              </a:p>
              <a:p>
                <a:r>
                  <a:rPr lang="en-US" dirty="0"/>
                  <a:t>Thus, a seasonal period of:</a:t>
                </a:r>
              </a:p>
              <a:p>
                <a:r>
                  <a:rPr lang="en-US" sz="1200" i="0" kern="1200">
                    <a:solidFill>
                      <a:schemeClr val="tx1"/>
                    </a:solidFill>
                    <a:latin typeface="+mn-lt"/>
                    <a:ea typeface="+mn-ea"/>
                    <a:cs typeface="+mn-cs"/>
                  </a:rPr>
                  <a:t>𝑠=7 </a:t>
                </a:r>
                <a:r>
                  <a:rPr lang="en-US" sz="1200" b="0" i="0" kern="1200">
                    <a:solidFill>
                      <a:schemeClr val="tx1"/>
                    </a:solidFill>
                    <a:latin typeface="Cambria Math" panose="02040503050406030204" pitchFamily="18" charset="0"/>
                    <a:ea typeface="+mn-ea"/>
                    <a:cs typeface="+mn-cs"/>
                  </a:rPr>
                  <a:t>"(weekly seasonality)</a:t>
                </a:r>
                <a:r>
                  <a:rPr lang="en-US" sz="1200" b="0" i="0" kern="1200">
                    <a:solidFill>
                      <a:schemeClr val="tx1"/>
                    </a:solidFill>
                    <a:latin typeface="+mn-lt"/>
                    <a:ea typeface="+mn-ea"/>
                    <a:cs typeface="+mn-cs"/>
                  </a:rPr>
                  <a:t>"</a:t>
                </a:r>
                <a:endParaRPr lang="en-US" b="0" dirty="0"/>
              </a:p>
              <a:p>
                <a:r>
                  <a:rPr lang="en-US" dirty="0"/>
                  <a:t>was appropriate.</a:t>
                </a:r>
              </a:p>
              <a:p>
                <a:br>
                  <a:rPr lang="en-US" dirty="0"/>
                </a:br>
                <a:endParaRPr lang="en-US" dirty="0"/>
              </a:p>
              <a:p>
                <a:r>
                  <a:rPr lang="en-US" b="1" dirty="0"/>
                  <a:t>Seasonal AR(2) (P = 2) captures repeated weekly patterns</a:t>
                </a:r>
              </a:p>
              <a:p>
                <a:r>
                  <a:rPr lang="en-US" dirty="0"/>
                  <a:t>The </a:t>
                </a:r>
                <a:r>
                  <a:rPr lang="en-US" b="1" dirty="0"/>
                  <a:t>PACF</a:t>
                </a:r>
                <a:r>
                  <a:rPr lang="en-US" dirty="0"/>
                  <a:t> of the differenced series showed significant seasonal spikes at:</a:t>
                </a:r>
              </a:p>
              <a:p>
                <a:r>
                  <a:rPr lang="en-US" dirty="0"/>
                  <a:t>Lag 7</a:t>
                </a:r>
              </a:p>
              <a:p>
                <a:r>
                  <a:rPr lang="en-US" dirty="0"/>
                  <a:t>Lag 14</a:t>
                </a:r>
              </a:p>
              <a:p>
                <a:r>
                  <a:rPr lang="en-US" dirty="0"/>
                  <a:t>This indicates a </a:t>
                </a:r>
                <a:r>
                  <a:rPr lang="en-US" b="1" dirty="0"/>
                  <a:t>Seasonal </a:t>
                </a:r>
                <a:r>
                  <a:rPr lang="en-US" b="1" dirty="0" err="1"/>
                  <a:t>AutoRegressive</a:t>
                </a:r>
                <a:r>
                  <a:rPr lang="en-US" b="1" dirty="0"/>
                  <a:t> (SAR) structure</a:t>
                </a:r>
                <a:r>
                  <a:rPr lang="en-US" dirty="0"/>
                  <a:t> of order 2:</a:t>
                </a:r>
              </a:p>
              <a:p>
                <a:r>
                  <a:rPr lang="el-GR" sz="1200" i="0" kern="1200">
                    <a:solidFill>
                      <a:schemeClr val="tx1"/>
                    </a:solidFill>
                    <a:latin typeface="+mn-lt"/>
                    <a:ea typeface="+mn-ea"/>
                    <a:cs typeface="+mn-cs"/>
                  </a:rPr>
                  <a:t>Φ</a:t>
                </a:r>
                <a:r>
                  <a:rPr lang="ar-AE" sz="1200" i="0" kern="1200">
                    <a:solidFill>
                      <a:schemeClr val="tx1"/>
                    </a:solidFill>
                    <a:latin typeface="+mn-lt"/>
                    <a:ea typeface="+mn-ea"/>
                    <a:cs typeface="+mn-cs"/>
                  </a:rPr>
                  <a:t>_1 𝑦_(𝑡−7)+</a:t>
                </a:r>
                <a:r>
                  <a:rPr lang="el-GR" sz="1200" i="0" kern="1200">
                    <a:solidFill>
                      <a:schemeClr val="tx1"/>
                    </a:solidFill>
                    <a:latin typeface="+mn-lt"/>
                    <a:ea typeface="+mn-ea"/>
                    <a:cs typeface="+mn-cs"/>
                  </a:rPr>
                  <a:t>Φ</a:t>
                </a:r>
                <a:r>
                  <a:rPr lang="ar-AE" sz="1200" i="0" kern="1200">
                    <a:solidFill>
                      <a:schemeClr val="tx1"/>
                    </a:solidFill>
                    <a:latin typeface="+mn-lt"/>
                    <a:ea typeface="+mn-ea"/>
                    <a:cs typeface="+mn-cs"/>
                  </a:rPr>
                  <a:t>_2 𝑦_(𝑡−14)</a:t>
                </a:r>
                <a:endParaRPr lang="ar-AE" dirty="0"/>
              </a:p>
              <a:p>
                <a:r>
                  <a:rPr lang="en-US" dirty="0"/>
                  <a:t>Including SAR(2):</a:t>
                </a:r>
              </a:p>
              <a:p>
                <a:r>
                  <a:rPr lang="en-US" dirty="0"/>
                  <a:t>Captures the weekly “momentum” of space usage</a:t>
                </a:r>
              </a:p>
              <a:p>
                <a:r>
                  <a:rPr lang="en-US" dirty="0"/>
                  <a:t>Helps the model learn systematic behaviors such as repeated weekly peaks</a:t>
                </a:r>
              </a:p>
              <a:p>
                <a:r>
                  <a:rPr lang="en-US" dirty="0"/>
                  <a:t>Reduced residual autocorrelation at seasonal lags</a:t>
                </a:r>
              </a:p>
              <a:p>
                <a:r>
                  <a:rPr lang="en-US" dirty="0"/>
                  <a:t>Thus:</a:t>
                </a:r>
              </a:p>
              <a:p>
                <a:r>
                  <a:rPr lang="en-US" sz="1200" i="0" kern="1200">
                    <a:solidFill>
                      <a:schemeClr val="tx1"/>
                    </a:solidFill>
                    <a:latin typeface="+mn-lt"/>
                    <a:ea typeface="+mn-ea"/>
                    <a:cs typeface="+mn-cs"/>
                  </a:rPr>
                  <a:t>𝑃=2</a:t>
                </a:r>
                <a:endParaRPr lang="en-US" dirty="0"/>
              </a:p>
              <a:p>
                <a:br>
                  <a:rPr lang="en-US" dirty="0"/>
                </a:br>
                <a:endParaRPr lang="en-US" dirty="0"/>
              </a:p>
              <a:p>
                <a:r>
                  <a:rPr lang="en-US" b="1" dirty="0"/>
                  <a:t>5. Seasonal MA(2) (Q = 2) captures shocks that repeat weekly</a:t>
                </a:r>
              </a:p>
              <a:p>
                <a:r>
                  <a:rPr lang="en-US" dirty="0"/>
                  <a:t>The seasonal ACF also showed:</a:t>
                </a:r>
              </a:p>
              <a:p>
                <a:r>
                  <a:rPr lang="en-US" dirty="0"/>
                  <a:t>Strong spikes at lags </a:t>
                </a:r>
                <a:r>
                  <a:rPr lang="en-US" b="1" dirty="0"/>
                  <a:t>7 and 14</a:t>
                </a:r>
                <a:endParaRPr lang="en-US" dirty="0"/>
              </a:p>
              <a:p>
                <a:r>
                  <a:rPr lang="en-US" dirty="0"/>
                  <a:t>Patterns that decay after seasonal differencing</a:t>
                </a:r>
              </a:p>
              <a:p>
                <a:r>
                  <a:rPr lang="en-US" dirty="0"/>
                  <a:t>This behavior suggests a </a:t>
                </a:r>
                <a:r>
                  <a:rPr lang="en-US" b="1" dirty="0"/>
                  <a:t>Seasonal Moving Average (SMA)</a:t>
                </a:r>
                <a:r>
                  <a:rPr lang="en-US" dirty="0"/>
                  <a:t> component:</a:t>
                </a:r>
              </a:p>
              <a:p>
                <a:r>
                  <a:rPr lang="el-GR" sz="1200" i="0" kern="1200">
                    <a:solidFill>
                      <a:schemeClr val="tx1"/>
                    </a:solidFill>
                    <a:latin typeface="+mn-lt"/>
                    <a:ea typeface="+mn-ea"/>
                    <a:cs typeface="+mn-cs"/>
                  </a:rPr>
                  <a:t>Θ</a:t>
                </a:r>
                <a:r>
                  <a:rPr lang="ar-AE" sz="1200" i="0" kern="1200">
                    <a:solidFill>
                      <a:schemeClr val="tx1"/>
                    </a:solidFill>
                    <a:latin typeface="+mn-lt"/>
                    <a:ea typeface="+mn-ea"/>
                    <a:cs typeface="+mn-cs"/>
                  </a:rPr>
                  <a:t>_1 𝜀_(𝑡−7)+</a:t>
                </a:r>
                <a:r>
                  <a:rPr lang="el-GR" sz="1200" i="0" kern="1200">
                    <a:solidFill>
                      <a:schemeClr val="tx1"/>
                    </a:solidFill>
                    <a:latin typeface="+mn-lt"/>
                    <a:ea typeface="+mn-ea"/>
                    <a:cs typeface="+mn-cs"/>
                  </a:rPr>
                  <a:t>Θ</a:t>
                </a:r>
                <a:r>
                  <a:rPr lang="ar-AE" sz="1200" i="0" kern="1200">
                    <a:solidFill>
                      <a:schemeClr val="tx1"/>
                    </a:solidFill>
                    <a:latin typeface="+mn-lt"/>
                    <a:ea typeface="+mn-ea"/>
                    <a:cs typeface="+mn-cs"/>
                  </a:rPr>
                  <a:t>_2 𝜀_(𝑡−14)</a:t>
                </a:r>
                <a:endParaRPr lang="ar-AE" dirty="0"/>
              </a:p>
              <a:p>
                <a:r>
                  <a:rPr lang="en-US" dirty="0"/>
                  <a:t>Including SMA terms:</a:t>
                </a:r>
              </a:p>
              <a:p>
                <a:r>
                  <a:rPr lang="en-US" dirty="0"/>
                  <a:t>Accounts for unexpected shocks that persist on a weekly basis</a:t>
                </a:r>
              </a:p>
              <a:p>
                <a:r>
                  <a:rPr lang="en-US" dirty="0"/>
                  <a:t>Greatly improved residual diagnostics</a:t>
                </a:r>
              </a:p>
              <a:p>
                <a:r>
                  <a:rPr lang="en-US" dirty="0"/>
                  <a:t>Further minimized AIC/</a:t>
                </a:r>
                <a:r>
                  <a:rPr lang="en-US" dirty="0" err="1"/>
                  <a:t>AICc</a:t>
                </a:r>
                <a:r>
                  <a:rPr lang="en-US" dirty="0"/>
                  <a:t> relative to SAR(2) alone</a:t>
                </a:r>
              </a:p>
              <a:p>
                <a:r>
                  <a:rPr lang="en-US" dirty="0"/>
                  <a:t>Thus:</a:t>
                </a:r>
              </a:p>
              <a:p>
                <a:r>
                  <a:rPr lang="en-US" sz="1200" i="0" kern="1200">
                    <a:solidFill>
                      <a:schemeClr val="tx1"/>
                    </a:solidFill>
                    <a:latin typeface="+mn-lt"/>
                    <a:ea typeface="+mn-ea"/>
                    <a:cs typeface="+mn-cs"/>
                  </a:rPr>
                  <a:t>𝑄=2</a:t>
                </a:r>
                <a:endParaRPr lang="en-US" dirty="0"/>
              </a:p>
              <a:p>
                <a:br>
                  <a:rPr lang="en-US" dirty="0"/>
                </a:br>
                <a:endParaRPr lang="en-US" dirty="0"/>
              </a:p>
              <a:p>
                <a:r>
                  <a:rPr lang="en-US" b="1" dirty="0"/>
                  <a:t>Overall Model Fit Was Superior</a:t>
                </a:r>
              </a:p>
              <a:p>
                <a:r>
                  <a:rPr lang="en-US" dirty="0"/>
                  <a:t>Model comparison using AIC/</a:t>
                </a:r>
                <a:r>
                  <a:rPr lang="en-US" dirty="0" err="1"/>
                  <a:t>AICc</a:t>
                </a:r>
                <a:r>
                  <a:rPr lang="en-US" dirty="0"/>
                  <a:t>/BIC showed:</a:t>
                </a:r>
              </a:p>
              <a:p>
                <a:r>
                  <a:rPr lang="en-US" dirty="0"/>
                  <a:t>Model </a:t>
                </a:r>
                <a:r>
                  <a:rPr lang="en-US" dirty="0" err="1"/>
                  <a:t>TestedAIC</a:t>
                </a:r>
                <a:r>
                  <a:rPr lang="en-US" dirty="0"/>
                  <a:t> </a:t>
                </a:r>
                <a:r>
                  <a:rPr lang="en-US" dirty="0" err="1"/>
                  <a:t>ScoreResidual</a:t>
                </a:r>
                <a:r>
                  <a:rPr lang="en-US" dirty="0"/>
                  <a:t> </a:t>
                </a:r>
                <a:r>
                  <a:rPr lang="en-US" dirty="0" err="1"/>
                  <a:t>Issues?ARIMA</a:t>
                </a:r>
                <a:r>
                  <a:rPr lang="en-US" dirty="0"/>
                  <a:t>(0,1,1)</a:t>
                </a:r>
                <a:r>
                  <a:rPr lang="en-US" dirty="0" err="1"/>
                  <a:t>HigherSeasonal</a:t>
                </a:r>
                <a:r>
                  <a:rPr lang="en-US" dirty="0"/>
                  <a:t> autocorrelation </a:t>
                </a:r>
                <a:r>
                  <a:rPr lang="en-US" dirty="0" err="1"/>
                  <a:t>remainsSARIMA</a:t>
                </a:r>
                <a:r>
                  <a:rPr lang="en-US" dirty="0"/>
                  <a:t>(0,1,1)(1,0,1)\₇Improved but still autocorrelation</a:t>
                </a:r>
              </a:p>
              <a:p>
                <a:endParaRPr lang="en-US" b="1" dirty="0"/>
              </a:p>
              <a:p>
                <a:r>
                  <a:rPr lang="en-US" b="1" dirty="0"/>
                  <a:t>SARIMA(0,1,2)(2,0,2)\₇Lowest </a:t>
                </a:r>
                <a:r>
                  <a:rPr lang="en-US" b="1" dirty="0" err="1"/>
                  <a:t>AICResiduals</a:t>
                </a:r>
                <a:r>
                  <a:rPr lang="en-US" b="1" dirty="0"/>
                  <a:t> pass Q-tests</a:t>
                </a:r>
                <a:endParaRPr lang="en-US" dirty="0"/>
              </a:p>
              <a:p>
                <a:r>
                  <a:rPr lang="en-US" dirty="0"/>
                  <a:t>Residual diagnostics confirmed:</a:t>
                </a:r>
              </a:p>
              <a:p>
                <a:r>
                  <a:rPr lang="en-US" dirty="0"/>
                  <a:t>No remaining autocorrelation (Ljung–Box p &gt; 0.10)</a:t>
                </a:r>
              </a:p>
              <a:p>
                <a:r>
                  <a:rPr lang="en-US" dirty="0"/>
                  <a:t>Residuals resemble white noise</a:t>
                </a:r>
              </a:p>
              <a:p>
                <a:r>
                  <a:rPr lang="en-US" dirty="0"/>
                  <a:t>Forecast errors minimized</a:t>
                </a:r>
              </a:p>
              <a:p>
                <a:r>
                  <a:rPr lang="en-US" dirty="0"/>
                  <a:t>Seasonality fully captured</a:t>
                </a:r>
              </a:p>
              <a:p>
                <a:r>
                  <a:rPr lang="en-US" dirty="0"/>
                  <a:t>This made the chosen model </a:t>
                </a:r>
                <a:r>
                  <a:rPr lang="en-US" b="1" dirty="0"/>
                  <a:t>statistically optimal</a:t>
                </a:r>
                <a:r>
                  <a:rPr lang="en-US" dirty="0"/>
                  <a:t> among candidates.</a:t>
                </a:r>
              </a:p>
              <a:p>
                <a:br>
                  <a:rPr lang="en-US" dirty="0"/>
                </a:br>
                <a:endParaRPr lang="en-US" dirty="0"/>
              </a:p>
              <a:p>
                <a:r>
                  <a:rPr lang="en-US" b="1" dirty="0"/>
                  <a:t>Practical Justification (Operational Logic)</a:t>
                </a:r>
              </a:p>
              <a:p>
                <a:r>
                  <a:rPr lang="en-US" dirty="0"/>
                  <a:t>Beyond the statistical fit, this model makes sense operationally:</a:t>
                </a:r>
              </a:p>
              <a:p>
                <a:r>
                  <a:rPr lang="en-US" dirty="0"/>
                  <a:t>Space usage follows a </a:t>
                </a:r>
                <a:r>
                  <a:rPr lang="en-US" b="1" dirty="0"/>
                  <a:t>weekly rhythm</a:t>
                </a:r>
                <a:r>
                  <a:rPr lang="en-US" dirty="0"/>
                  <a:t> (due to staffing, deliveries, production cycles)</a:t>
                </a:r>
              </a:p>
              <a:p>
                <a:r>
                  <a:rPr lang="en-US" dirty="0"/>
                  <a:t>Day-to-day space usage is noisy → MA terms help capture short-lived shocks</a:t>
                </a:r>
              </a:p>
              <a:p>
                <a:r>
                  <a:rPr lang="en-US" dirty="0"/>
                  <a:t>Weekly patterns persist → SAR and SMA terms reflect genuine warehouse behavior</a:t>
                </a:r>
              </a:p>
              <a:p>
                <a:r>
                  <a:rPr lang="en-US" dirty="0"/>
                  <a:t>The single differencing captures slow-changing capacity trends or gradual shifts in SKU mix</a:t>
                </a:r>
              </a:p>
              <a:p>
                <a:r>
                  <a:rPr lang="en-US" dirty="0"/>
                  <a:t>So the model aligns with </a:t>
                </a:r>
                <a:r>
                  <a:rPr lang="en-US" b="1" dirty="0"/>
                  <a:t>real operational mechanisms</a:t>
                </a:r>
                <a:r>
                  <a:rPr lang="en-US" dirty="0"/>
                  <a:t>.</a:t>
                </a:r>
              </a:p>
              <a:p>
                <a:endParaRPr lang="en-US" dirty="0"/>
              </a:p>
            </p:txBody>
          </p:sp>
        </mc:Fallback>
      </mc:AlternateContent>
      <p:sp>
        <p:nvSpPr>
          <p:cNvPr id="4" name="Slide Number Placeholder 3"/>
          <p:cNvSpPr>
            <a:spLocks noGrp="1"/>
          </p:cNvSpPr>
          <p:nvPr>
            <p:ph type="sldNum" sz="quarter" idx="5"/>
          </p:nvPr>
        </p:nvSpPr>
        <p:spPr/>
        <p:txBody>
          <a:bodyPr/>
          <a:lstStyle/>
          <a:p>
            <a:fld id="{EE000EEB-8338-48D7-8EE8-EE0082EF7602}" type="slidenum">
              <a:rPr lang="en-US" smtClean="0"/>
              <a:t>11</a:t>
            </a:fld>
            <a:endParaRPr lang="en-US" dirty="0"/>
          </a:p>
        </p:txBody>
      </p:sp>
    </p:spTree>
    <p:extLst>
      <p:ext uri="{BB962C8B-B14F-4D97-AF65-F5344CB8AC3E}">
        <p14:creationId xmlns:p14="http://schemas.microsoft.com/office/powerpoint/2010/main" val="3745805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SARIMA model selected—SARIMA(0,1,2)(2,0,2)_7—performed very well.</a:t>
            </a:r>
          </a:p>
          <a:p>
            <a:r>
              <a:rPr lang="en-US" dirty="0"/>
              <a:t>It captured:</a:t>
            </a:r>
          </a:p>
          <a:p>
            <a:r>
              <a:rPr lang="en-US" dirty="0"/>
              <a:t>The </a:t>
            </a:r>
            <a:r>
              <a:rPr lang="en-US" b="1" dirty="0"/>
              <a:t>weekly seasonal pattern</a:t>
            </a:r>
            <a:endParaRPr lang="en-US" dirty="0"/>
          </a:p>
          <a:p>
            <a:r>
              <a:rPr lang="en-US" dirty="0"/>
              <a:t>Short-term fluctuations</a:t>
            </a:r>
          </a:p>
          <a:p>
            <a:r>
              <a:rPr lang="en-US" dirty="0"/>
              <a:t>Random shocks</a:t>
            </a:r>
          </a:p>
          <a:p>
            <a:r>
              <a:rPr lang="en-US" dirty="0"/>
              <a:t>The 60-day ahead forecast achieved an </a:t>
            </a:r>
            <a:r>
              <a:rPr lang="en-US" b="1" dirty="0"/>
              <a:t>RMSE of around 0.62 m³ per day</a:t>
            </a:r>
            <a:r>
              <a:rPr lang="en-US" dirty="0"/>
              <a:t>, which is strong given the natural volatility in space usage.</a:t>
            </a:r>
          </a:p>
          <a:p>
            <a:endParaRPr lang="en-US" dirty="0"/>
          </a:p>
          <a:p>
            <a:r>
              <a:rPr lang="en-US" dirty="0"/>
              <a:t>The Ljung–Box test showed </a:t>
            </a:r>
            <a:r>
              <a:rPr lang="en-US" b="1" dirty="0"/>
              <a:t>no significant autocorrelation in residuals</a:t>
            </a:r>
            <a:r>
              <a:rPr lang="en-US" dirty="0"/>
              <a:t>, meaning the model successfully captured all meaningful patterns.”</a:t>
            </a:r>
          </a:p>
          <a:p>
            <a:endParaRPr lang="en-US" dirty="0"/>
          </a:p>
          <a:p>
            <a:endParaRPr lang="en-US" dirty="0"/>
          </a:p>
          <a:p>
            <a:r>
              <a:rPr lang="en-US" dirty="0"/>
              <a:t>The SARIMA forecast showed a clear </a:t>
            </a:r>
            <a:r>
              <a:rPr lang="en-US" b="1" dirty="0"/>
              <a:t>weekly cycle</a:t>
            </a:r>
            <a:r>
              <a:rPr lang="en-US" dirty="0"/>
              <a:t>, with predicted peaks and troughs aligning with historical patterns.</a:t>
            </a:r>
          </a:p>
          <a:p>
            <a:endParaRPr lang="en-US" dirty="0"/>
          </a:p>
          <a:p>
            <a:r>
              <a:rPr lang="en-US" dirty="0"/>
              <a:t>These forecasts are practical tools for:</a:t>
            </a:r>
          </a:p>
          <a:p>
            <a:endParaRPr lang="en-US" dirty="0"/>
          </a:p>
          <a:p>
            <a:r>
              <a:rPr lang="en-US" dirty="0"/>
              <a:t>Labor scheduling</a:t>
            </a:r>
          </a:p>
          <a:p>
            <a:r>
              <a:rPr lang="en-US" dirty="0"/>
              <a:t>Dock scheduling</a:t>
            </a:r>
          </a:p>
          <a:p>
            <a:r>
              <a:rPr lang="en-US" dirty="0"/>
              <a:t>Storage space allocation</a:t>
            </a:r>
          </a:p>
          <a:p>
            <a:r>
              <a:rPr lang="en-US" dirty="0"/>
              <a:t>Identifying high-demand weeks</a:t>
            </a:r>
          </a:p>
          <a:p>
            <a:endParaRPr lang="en-US" dirty="0"/>
          </a:p>
          <a:p>
            <a:r>
              <a:rPr lang="en-US" dirty="0"/>
              <a:t>The confidence intervals give managers a range of expected outcomes, which is crucial for risk and capacity management.</a:t>
            </a:r>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12</a:t>
            </a:fld>
            <a:endParaRPr lang="en-US" dirty="0"/>
          </a:p>
        </p:txBody>
      </p:sp>
    </p:spTree>
    <p:extLst>
      <p:ext uri="{BB962C8B-B14F-4D97-AF65-F5344CB8AC3E}">
        <p14:creationId xmlns:p14="http://schemas.microsoft.com/office/powerpoint/2010/main" val="3125202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FC6EE-3422-C717-F647-27D54B8D9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AE2CA-B330-A986-4CA8-B9FE0E65DF2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473CCA9-F9B5-ECC9-BBED-746A54828653}"/>
                  </a:ext>
                </a:extLst>
              </p:cNvPr>
              <p:cNvSpPr>
                <a:spLocks noGrp="1"/>
              </p:cNvSpPr>
              <p:nvPr>
                <p:ph type="body" idx="1"/>
              </p:nvPr>
            </p:nvSpPr>
            <p:spPr/>
            <p:txBody>
              <a:bodyPr/>
              <a:lstStyle/>
              <a:p>
                <a:r>
                  <a:rPr lang="en-US" dirty="0"/>
                  <a:t>We used VAR because the four product categories are mot independent and they influence one another</a:t>
                </a:r>
              </a:p>
              <a:p>
                <a:endParaRPr lang="en-US" dirty="0"/>
              </a:p>
              <a:p>
                <a:r>
                  <a:rPr lang="en-US" dirty="0"/>
                  <a:t> A VAR model captures these cross-categories</a:t>
                </a:r>
              </a:p>
              <a:p>
                <a:endParaRPr lang="en-US" dirty="0"/>
              </a:p>
              <a:p>
                <a:endParaRPr lang="en-US" dirty="0"/>
              </a:p>
              <a:p>
                <a:pPr>
                  <a:buNone/>
                </a:pPr>
                <a:endParaRPr lang="en-US" b="1" dirty="0"/>
              </a:p>
              <a:p>
                <a:pPr>
                  <a:buNone/>
                </a:pPr>
                <a:endParaRPr lang="en-US" b="1" dirty="0"/>
              </a:p>
              <a:p>
                <a:pPr>
                  <a:buNone/>
                </a:pPr>
                <a:r>
                  <a:rPr lang="en-US" b="1" dirty="0"/>
                  <a:t>Interpretation of Variables</a:t>
                </a:r>
              </a:p>
              <a:p>
                <a:pPr>
                  <a:buFont typeface="Arial" panose="020B0604020202020204" pitchFamily="34" charset="0"/>
                  <a:buChar char="•"/>
                </a:pPr>
                <a14:m>
                  <m:oMath xmlns:m="http://schemas.openxmlformats.org/officeDocument/2006/math">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1">
                            <a:latin typeface="Cambria Math" panose="02040503050406030204" pitchFamily="18" charset="0"/>
                          </a:rPr>
                          <m:t>𝑡</m:t>
                        </m:r>
                      </m:sub>
                    </m:sSub>
                  </m:oMath>
                </a14:m>
                <a:r>
                  <a:rPr lang="ar-AE" dirty="0"/>
                  <a:t>: </a:t>
                </a:r>
                <a:r>
                  <a:rPr lang="en-US" dirty="0"/>
                  <a:t>change in Headphones space (m³) from t−1 to t</a:t>
                </a:r>
              </a:p>
              <a:p>
                <a:pPr>
                  <a:buFont typeface="Arial" panose="020B0604020202020204" pitchFamily="34" charset="0"/>
                  <a:buChar char="•"/>
                </a:pPr>
                <a14:m>
                  <m:oMath xmlns:m="http://schemas.openxmlformats.org/officeDocument/2006/math">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𝑡</m:t>
                        </m:r>
                      </m:sub>
                    </m:sSub>
                  </m:oMath>
                </a14:m>
                <a:r>
                  <a:rPr lang="ar-AE" dirty="0"/>
                  <a:t>: </a:t>
                </a:r>
                <a:r>
                  <a:rPr lang="en-US" dirty="0"/>
                  <a:t>change in Laptop space</a:t>
                </a:r>
              </a:p>
              <a:p>
                <a:pPr>
                  <a:buFont typeface="Arial" panose="020B0604020202020204" pitchFamily="34" charset="0"/>
                  <a:buChar char="•"/>
                </a:pPr>
                <a14:m>
                  <m:oMath xmlns:m="http://schemas.openxmlformats.org/officeDocument/2006/math">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𝑀</m:t>
                        </m:r>
                      </m:e>
                      <m:sub>
                        <m:r>
                          <a:rPr lang="ar-AE" i="1">
                            <a:latin typeface="Cambria Math" panose="02040503050406030204" pitchFamily="18" charset="0"/>
                          </a:rPr>
                          <m:t>𝑡</m:t>
                        </m:r>
                      </m:sub>
                    </m:sSub>
                  </m:oMath>
                </a14:m>
                <a:r>
                  <a:rPr lang="ar-AE" dirty="0"/>
                  <a:t>: </a:t>
                </a:r>
                <a:r>
                  <a:rPr lang="en-US" dirty="0"/>
                  <a:t>change in Monitor space</a:t>
                </a:r>
              </a:p>
              <a:p>
                <a:pPr>
                  <a:buFont typeface="Arial" panose="020B0604020202020204" pitchFamily="34" charset="0"/>
                  <a:buChar char="•"/>
                </a:pPr>
                <a14:m>
                  <m:oMath xmlns:m="http://schemas.openxmlformats.org/officeDocument/2006/math">
                    <m:r>
                      <m:rPr>
                        <m:sty m:val="p"/>
                      </m:rPr>
                      <a:rPr lang="el-GR">
                        <a:latin typeface="Cambria Math" panose="02040503050406030204" pitchFamily="18" charset="0"/>
                      </a:rPr>
                      <m:t>Δ</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𝑡</m:t>
                        </m:r>
                      </m:sub>
                    </m:sSub>
                  </m:oMath>
                </a14:m>
                <a:r>
                  <a:rPr lang="ar-AE" dirty="0"/>
                  <a:t>: </a:t>
                </a:r>
                <a:r>
                  <a:rPr lang="en-US" dirty="0"/>
                  <a:t>change in Smartphone space</a:t>
                </a:r>
              </a:p>
              <a:p>
                <a:pPr>
                  <a:buNone/>
                </a:pPr>
                <a:r>
                  <a:rPr lang="en-US" dirty="0"/>
                  <a:t>Example interpretation of a coefficient:</a:t>
                </a:r>
              </a:p>
              <a:p>
                <a:pPr>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𝑎</m:t>
                          </m:r>
                        </m:e>
                        <m:sub>
                          <m:r>
                            <a:rPr lang="ar-AE" i="0">
                              <a:latin typeface="Cambria Math" panose="02040503050406030204" pitchFamily="18" charset="0"/>
                            </a:rPr>
                            <m:t>14</m:t>
                          </m:r>
                        </m:sub>
                        <m:sup>
                          <m:d>
                            <m:dPr>
                              <m:ctrlPr>
                                <a:rPr lang="ar-AE" i="1">
                                  <a:latin typeface="Cambria Math" panose="02040503050406030204" pitchFamily="18" charset="0"/>
                                </a:rPr>
                              </m:ctrlPr>
                            </m:dPr>
                            <m:e>
                              <m:r>
                                <a:rPr lang="ar-AE" i="0">
                                  <a:latin typeface="Cambria Math" panose="02040503050406030204" pitchFamily="18" charset="0"/>
                                </a:rPr>
                                <m:t>1</m:t>
                              </m:r>
                            </m:e>
                          </m:d>
                        </m:sup>
                      </m:sSubSup>
                    </m:oMath>
                  </m:oMathPara>
                </a14:m>
                <a:endParaRPr lang="ar-AE" dirty="0"/>
              </a:p>
              <a:p>
                <a:pPr>
                  <a:buNone/>
                </a:pPr>
                <a:r>
                  <a:rPr lang="en-US" dirty="0"/>
                  <a:t>This coefficient represents:</a:t>
                </a:r>
              </a:p>
              <a:p>
                <a:pPr>
                  <a:buNone/>
                </a:pPr>
                <a:r>
                  <a:rPr lang="en-US" dirty="0"/>
                  <a:t>“How yesterday’s change in Smartphone space affects today’s change in Headphones space.”</a:t>
                </a:r>
              </a:p>
              <a:p>
                <a:endParaRPr lang="en-US" dirty="0"/>
              </a:p>
              <a:p>
                <a:endParaRPr lang="en-US" dirty="0"/>
              </a:p>
              <a:p>
                <a:r>
                  <a:rPr lang="en-US" b="1" dirty="0"/>
                  <a:t>VAR Model—Why We Used It</a:t>
                </a:r>
              </a:p>
              <a:p>
                <a:r>
                  <a:rPr lang="en-US" dirty="0"/>
                  <a:t>“VAR stands for Vector Autoregression.</a:t>
                </a:r>
              </a:p>
              <a:p>
                <a:endParaRPr lang="en-US" dirty="0"/>
              </a:p>
              <a:p>
                <a:endParaRPr lang="en-US" dirty="0"/>
              </a:p>
            </p:txBody>
          </p:sp>
        </mc:Choice>
        <mc:Fallback xmlns="">
          <p:sp>
            <p:nvSpPr>
              <p:cNvPr id="3" name="Notes Placeholder 2">
                <a:extLst>
                  <a:ext uri="{FF2B5EF4-FFF2-40B4-BE49-F238E27FC236}">
                    <a16:creationId xmlns:a16="http://schemas.microsoft.com/office/drawing/2014/main" id="{D473CCA9-F9B5-ECC9-BBED-746A54828653}"/>
                  </a:ext>
                </a:extLst>
              </p:cNvPr>
              <p:cNvSpPr>
                <a:spLocks noGrp="1"/>
              </p:cNvSpPr>
              <p:nvPr>
                <p:ph type="body" idx="1"/>
              </p:nvPr>
            </p:nvSpPr>
            <p:spPr/>
            <p:txBody>
              <a:bodyPr/>
              <a:lstStyle/>
              <a:p>
                <a:r>
                  <a:rPr lang="en-US" dirty="0"/>
                  <a:t>We used VAR because the four product categories don’t move independently—they influence one another. For example, spikes in Smartphone transfers often coincide with increases in Headphone or Laptop transfers. A VAR model captures these cross-</a:t>
                </a:r>
                <a:r>
                  <a:rPr lang="en-US" dirty="0" err="1"/>
                  <a:t>categoris</a:t>
                </a:r>
                <a:endParaRPr lang="en-US" dirty="0"/>
              </a:p>
              <a:p>
                <a:endParaRPr lang="en-US" dirty="0"/>
              </a:p>
              <a:p>
                <a:r>
                  <a:rPr lang="en-US" dirty="0"/>
                  <a:t>Unlike SARIMA, which treats the total as a single series, VAR treats multiple series jointly, making it ideal for category-level forecasting.”</a:t>
                </a:r>
              </a:p>
              <a:p>
                <a:endParaRPr lang="en-US" dirty="0"/>
              </a:p>
              <a:p>
                <a:pPr>
                  <a:buNone/>
                </a:pPr>
                <a:endParaRPr lang="en-US" b="1" dirty="0"/>
              </a:p>
              <a:p>
                <a:pPr>
                  <a:buNone/>
                </a:pPr>
                <a:endParaRPr lang="en-US" b="1" dirty="0"/>
              </a:p>
              <a:p>
                <a:pPr>
                  <a:buNone/>
                </a:pPr>
                <a:r>
                  <a:rPr lang="en-US" b="1" dirty="0"/>
                  <a:t>Interpretation of Variables</a:t>
                </a:r>
              </a:p>
              <a:p>
                <a:pPr>
                  <a:buFont typeface="Arial" panose="020B0604020202020204" pitchFamily="34" charset="0"/>
                  <a:buChar char="•"/>
                </a:pPr>
                <a:r>
                  <a:rPr lang="el-GR" i="0">
                    <a:latin typeface="Cambria Math" panose="02040503050406030204" pitchFamily="18" charset="0"/>
                  </a:rPr>
                  <a:t>Δ</a:t>
                </a:r>
                <a:r>
                  <a:rPr lang="ar-AE" i="0">
                    <a:latin typeface="Cambria Math" panose="02040503050406030204" pitchFamily="18" charset="0"/>
                  </a:rPr>
                  <a:t>𝐻_𝑡</a:t>
                </a:r>
                <a:r>
                  <a:rPr lang="ar-AE" dirty="0"/>
                  <a:t>: </a:t>
                </a:r>
                <a:r>
                  <a:rPr lang="en-US" dirty="0"/>
                  <a:t>change in Headphones space (m³) from t−1 to t</a:t>
                </a:r>
              </a:p>
              <a:p>
                <a:pPr>
                  <a:buFont typeface="Arial" panose="020B0604020202020204" pitchFamily="34" charset="0"/>
                  <a:buChar char="•"/>
                </a:pPr>
                <a:r>
                  <a:rPr lang="el-GR" i="0">
                    <a:latin typeface="Cambria Math" panose="02040503050406030204" pitchFamily="18" charset="0"/>
                  </a:rPr>
                  <a:t>Δ</a:t>
                </a:r>
                <a:r>
                  <a:rPr lang="ar-AE" i="0">
                    <a:latin typeface="Cambria Math" panose="02040503050406030204" pitchFamily="18" charset="0"/>
                  </a:rPr>
                  <a:t>𝐿_𝑡</a:t>
                </a:r>
                <a:r>
                  <a:rPr lang="ar-AE" dirty="0"/>
                  <a:t>: </a:t>
                </a:r>
                <a:r>
                  <a:rPr lang="en-US" dirty="0"/>
                  <a:t>change in Laptop space</a:t>
                </a:r>
              </a:p>
              <a:p>
                <a:pPr>
                  <a:buFont typeface="Arial" panose="020B0604020202020204" pitchFamily="34" charset="0"/>
                  <a:buChar char="•"/>
                </a:pPr>
                <a:r>
                  <a:rPr lang="el-GR" i="0">
                    <a:latin typeface="Cambria Math" panose="02040503050406030204" pitchFamily="18" charset="0"/>
                  </a:rPr>
                  <a:t>Δ</a:t>
                </a:r>
                <a:r>
                  <a:rPr lang="ar-AE" i="0">
                    <a:latin typeface="Cambria Math" panose="02040503050406030204" pitchFamily="18" charset="0"/>
                  </a:rPr>
                  <a:t>𝑀_𝑡</a:t>
                </a:r>
                <a:r>
                  <a:rPr lang="ar-AE" dirty="0"/>
                  <a:t>: </a:t>
                </a:r>
                <a:r>
                  <a:rPr lang="en-US" dirty="0"/>
                  <a:t>change in Monitor space</a:t>
                </a:r>
              </a:p>
              <a:p>
                <a:pPr>
                  <a:buFont typeface="Arial" panose="020B0604020202020204" pitchFamily="34" charset="0"/>
                  <a:buChar char="•"/>
                </a:pPr>
                <a:r>
                  <a:rPr lang="el-GR" i="0">
                    <a:latin typeface="Cambria Math" panose="02040503050406030204" pitchFamily="18" charset="0"/>
                  </a:rPr>
                  <a:t>Δ</a:t>
                </a:r>
                <a:r>
                  <a:rPr lang="ar-AE" i="0">
                    <a:latin typeface="Cambria Math" panose="02040503050406030204" pitchFamily="18" charset="0"/>
                  </a:rPr>
                  <a:t>𝑆_𝑡</a:t>
                </a:r>
                <a:r>
                  <a:rPr lang="ar-AE" dirty="0"/>
                  <a:t>: </a:t>
                </a:r>
                <a:r>
                  <a:rPr lang="en-US" dirty="0"/>
                  <a:t>change in Smartphone space</a:t>
                </a:r>
              </a:p>
              <a:p>
                <a:pPr>
                  <a:buNone/>
                </a:pPr>
                <a:r>
                  <a:rPr lang="en-US" dirty="0"/>
                  <a:t>Example interpretation of a coefficient:</a:t>
                </a:r>
              </a:p>
              <a:p>
                <a:pPr>
                  <a:buNone/>
                </a:pPr>
                <a:r>
                  <a:rPr lang="ar-AE" i="0">
                    <a:latin typeface="Cambria Math" panose="02040503050406030204" pitchFamily="18" charset="0"/>
                  </a:rPr>
                  <a:t>𝑎_14^((1) )</a:t>
                </a:r>
                <a:endParaRPr lang="ar-AE" dirty="0"/>
              </a:p>
              <a:p>
                <a:pPr>
                  <a:buNone/>
                </a:pPr>
                <a:r>
                  <a:rPr lang="en-US" dirty="0"/>
                  <a:t>This coefficient represents:</a:t>
                </a:r>
              </a:p>
              <a:p>
                <a:pPr>
                  <a:buNone/>
                </a:pPr>
                <a:r>
                  <a:rPr lang="en-US" dirty="0"/>
                  <a:t>“How yesterday’s change in Smartphone space affects today’s change in Headphones space.”</a:t>
                </a:r>
              </a:p>
              <a:p>
                <a:endParaRPr lang="en-US" dirty="0"/>
              </a:p>
              <a:p>
                <a:endParaRPr lang="en-US" dirty="0"/>
              </a:p>
              <a:p>
                <a:r>
                  <a:rPr lang="en-US" b="1" dirty="0"/>
                  <a:t>VAR Model—Why We Used It</a:t>
                </a:r>
              </a:p>
              <a:p>
                <a:r>
                  <a:rPr lang="en-US" dirty="0"/>
                  <a:t>“VAR stands for Vector Autoregression.</a:t>
                </a:r>
              </a:p>
              <a:p>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8625AAA9-D715-068B-9631-111B0578BC21}"/>
              </a:ext>
            </a:extLst>
          </p:cNvPr>
          <p:cNvSpPr>
            <a:spLocks noGrp="1"/>
          </p:cNvSpPr>
          <p:nvPr>
            <p:ph type="sldNum" sz="quarter" idx="5"/>
          </p:nvPr>
        </p:nvSpPr>
        <p:spPr/>
        <p:txBody>
          <a:bodyPr/>
          <a:lstStyle/>
          <a:p>
            <a:fld id="{EE000EEB-8338-48D7-8EE8-EE0082EF7602}" type="slidenum">
              <a:rPr lang="en-US" smtClean="0"/>
              <a:t>13</a:t>
            </a:fld>
            <a:endParaRPr lang="en-US" dirty="0"/>
          </a:p>
        </p:txBody>
      </p:sp>
    </p:spTree>
    <p:extLst>
      <p:ext uri="{BB962C8B-B14F-4D97-AF65-F5344CB8AC3E}">
        <p14:creationId xmlns:p14="http://schemas.microsoft.com/office/powerpoint/2010/main" val="1259031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category level, the VAR(2) model captured the multivariate dynamics across the four product categories.</a:t>
            </a:r>
          </a:p>
          <a:p>
            <a:r>
              <a:rPr lang="en-US" dirty="0"/>
              <a:t>All categories showed significant </a:t>
            </a:r>
            <a:r>
              <a:rPr lang="en-US" b="1" dirty="0"/>
              <a:t>autocorrelation</a:t>
            </a:r>
            <a:r>
              <a:rPr lang="en-US" dirty="0"/>
              <a:t> as well as </a:t>
            </a:r>
            <a:r>
              <a:rPr lang="en-US" b="1" dirty="0"/>
              <a:t>cross-category dependencies</a:t>
            </a:r>
            <a:r>
              <a:rPr lang="en-US" dirty="0"/>
              <a:t>.</a:t>
            </a:r>
          </a:p>
          <a:p>
            <a:endParaRPr lang="en-US" dirty="0"/>
          </a:p>
          <a:p>
            <a:r>
              <a:rPr lang="en-US" dirty="0"/>
              <a:t>Information is useful </a:t>
            </a:r>
            <a:r>
              <a:rPr lang="en-US" dirty="0" err="1"/>
              <a:t>tp</a:t>
            </a:r>
            <a:r>
              <a:rPr lang="en-US" dirty="0"/>
              <a:t> know  for storage zoning and for anticipating which categories will require additional space in high-volume periods</a:t>
            </a:r>
          </a:p>
          <a:p>
            <a:endParaRPr lang="en-US" dirty="0"/>
          </a:p>
          <a:p>
            <a:endParaRPr lang="en-US" dirty="0"/>
          </a:p>
          <a:p>
            <a:endParaRPr lang="en-US" dirty="0"/>
          </a:p>
          <a:p>
            <a:endParaRPr lang="en-US" dirty="0"/>
          </a:p>
          <a:p>
            <a:endParaRPr lang="en-US" dirty="0"/>
          </a:p>
          <a:p>
            <a:r>
              <a:rPr lang="en-US" dirty="0"/>
              <a:t>The VAR model forecasts changes in category space usage. When we convert these into level forecasts, we see that Smartphones continue to lead space usage and show the greatest variability.</a:t>
            </a:r>
          </a:p>
          <a:p>
            <a:r>
              <a:rPr lang="en-US" dirty="0"/>
              <a:t>Meanwhile, the other three categories—Laptops, Monitors, and Headphones—display more stable patterns and tend to move together.</a:t>
            </a:r>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14</a:t>
            </a:fld>
            <a:endParaRPr lang="en-US" dirty="0"/>
          </a:p>
        </p:txBody>
      </p:sp>
    </p:spTree>
    <p:extLst>
      <p:ext uri="{BB962C8B-B14F-4D97-AF65-F5344CB8AC3E}">
        <p14:creationId xmlns:p14="http://schemas.microsoft.com/office/powerpoint/2010/main" val="3388871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ARIMA model achieved a better forecasting accuracy than the LSTM model. </a:t>
            </a:r>
          </a:p>
          <a:p>
            <a:endParaRPr lang="en-US" dirty="0"/>
          </a:p>
          <a:p>
            <a:r>
              <a:rPr lang="en-US" dirty="0"/>
              <a:t>ARIMA captured weekly seasonality and short-term fluctuations effectively,</a:t>
            </a:r>
          </a:p>
          <a:p>
            <a:endParaRPr lang="en-US" dirty="0"/>
          </a:p>
          <a:p>
            <a:r>
              <a:rPr lang="en-US" dirty="0"/>
              <a:t>the LSTM model underperformed due to limited historical data and the absence of strong nonlinear patterns. </a:t>
            </a:r>
          </a:p>
          <a:p>
            <a:endParaRPr lang="en-US" dirty="0"/>
          </a:p>
          <a:p>
            <a:r>
              <a:rPr lang="en-US" dirty="0"/>
              <a:t>LSTM I found it requires a minimum of  3 to five years of data to perform efficiently.</a:t>
            </a:r>
          </a:p>
        </p:txBody>
      </p:sp>
      <p:sp>
        <p:nvSpPr>
          <p:cNvPr id="4" name="Slide Number Placeholder 3"/>
          <p:cNvSpPr>
            <a:spLocks noGrp="1"/>
          </p:cNvSpPr>
          <p:nvPr>
            <p:ph type="sldNum" sz="quarter" idx="5"/>
          </p:nvPr>
        </p:nvSpPr>
        <p:spPr/>
        <p:txBody>
          <a:bodyPr/>
          <a:lstStyle/>
          <a:p>
            <a:fld id="{EE000EEB-8338-48D7-8EE8-EE0082EF7602}" type="slidenum">
              <a:rPr lang="en-US" smtClean="0"/>
              <a:t>15</a:t>
            </a:fld>
            <a:endParaRPr lang="en-US" dirty="0"/>
          </a:p>
        </p:txBody>
      </p:sp>
    </p:spTree>
    <p:extLst>
      <p:ext uri="{BB962C8B-B14F-4D97-AF65-F5344CB8AC3E}">
        <p14:creationId xmlns:p14="http://schemas.microsoft.com/office/powerpoint/2010/main" val="707432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enhancements would be to incorporate </a:t>
            </a:r>
            <a:r>
              <a:rPr lang="en-US" b="1" dirty="0"/>
              <a:t>multiple years</a:t>
            </a:r>
            <a:r>
              <a:rPr lang="en-US" dirty="0"/>
              <a:t> of data.</a:t>
            </a:r>
          </a:p>
          <a:p>
            <a:r>
              <a:rPr lang="en-US" dirty="0"/>
              <a:t>With only one year of daily data, models like SARIMA or LSTM cannot fully learn:</a:t>
            </a:r>
          </a:p>
          <a:p>
            <a:endParaRPr lang="en-US" dirty="0"/>
          </a:p>
          <a:p>
            <a:r>
              <a:rPr lang="en-US" dirty="0"/>
              <a:t>Adding 2–4 years of history would  improve forecasting stability, especially during peak seasons.”</a:t>
            </a:r>
          </a:p>
          <a:p>
            <a:endParaRPr lang="en-US" dirty="0"/>
          </a:p>
          <a:p>
            <a:r>
              <a:rPr lang="en-US" dirty="0"/>
              <a:t>Currently the forecasts rely solely on historical space and stock movements. We could improve accuracy by adding external regressors such as:</a:t>
            </a:r>
          </a:p>
          <a:p>
            <a:endParaRPr lang="en-US" dirty="0"/>
          </a:p>
          <a:p>
            <a:r>
              <a:rPr lang="en-US" dirty="0"/>
              <a:t>Supplier delivery schedules</a:t>
            </a:r>
          </a:p>
          <a:p>
            <a:r>
              <a:rPr lang="en-US" dirty="0"/>
              <a:t>Lead times</a:t>
            </a:r>
          </a:p>
          <a:p>
            <a:r>
              <a:rPr lang="en-US" dirty="0"/>
              <a:t>Holiday effects</a:t>
            </a:r>
          </a:p>
          <a:p>
            <a:r>
              <a:rPr lang="en-US" dirty="0"/>
              <a:t>Order volume or sales forecasts</a:t>
            </a:r>
          </a:p>
          <a:p>
            <a:endParaRPr lang="en-US" dirty="0"/>
          </a:p>
          <a:p>
            <a:endParaRPr lang="en-US" dirty="0"/>
          </a:p>
          <a:p>
            <a:r>
              <a:rPr lang="en-US" dirty="0"/>
              <a:t>For complex, nonlinear behavior, ML models may outperform SARIMA and VAR.</a:t>
            </a:r>
            <a:br>
              <a:rPr lang="en-US" dirty="0"/>
            </a:br>
            <a:r>
              <a:rPr lang="en-US" dirty="0"/>
              <a:t>Future options include:</a:t>
            </a:r>
          </a:p>
          <a:p>
            <a:r>
              <a:rPr lang="en-US" b="1" dirty="0" err="1"/>
              <a:t>XGBoost</a:t>
            </a:r>
            <a:r>
              <a:rPr lang="en-US" b="1" dirty="0"/>
              <a:t> / </a:t>
            </a:r>
            <a:r>
              <a:rPr lang="en-US" b="1" dirty="0" err="1"/>
              <a:t>LightGBM</a:t>
            </a:r>
            <a:r>
              <a:rPr lang="en-US" dirty="0"/>
              <a:t> for tabular demand forecasting</a:t>
            </a:r>
          </a:p>
          <a:p>
            <a:r>
              <a:rPr lang="en-US" b="1" dirty="0"/>
              <a:t>Neural networks</a:t>
            </a:r>
            <a:r>
              <a:rPr lang="en-US" dirty="0"/>
              <a:t> like LSTM, GRU, or Temporal Convolutional Networks (TCN)</a:t>
            </a:r>
          </a:p>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17</a:t>
            </a:fld>
            <a:endParaRPr lang="en-US" dirty="0"/>
          </a:p>
        </p:txBody>
      </p:sp>
    </p:spTree>
    <p:extLst>
      <p:ext uri="{BB962C8B-B14F-4D97-AF65-F5344CB8AC3E}">
        <p14:creationId xmlns:p14="http://schemas.microsoft.com/office/powerpoint/2010/main" val="6442234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18</a:t>
            </a:fld>
            <a:endParaRPr lang="en-US" dirty="0"/>
          </a:p>
        </p:txBody>
      </p:sp>
    </p:spTree>
    <p:extLst>
      <p:ext uri="{BB962C8B-B14F-4D97-AF65-F5344CB8AC3E}">
        <p14:creationId xmlns:p14="http://schemas.microsoft.com/office/powerpoint/2010/main" val="3672966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12/10/2025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12/10/2025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freestock.com/free-videos/animation-full-fluttering-national-flag-mongolia-2479400" TargetMode="External"/><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511EBC-2F3C-446D-867B-7DC328517A44}"/>
              </a:ext>
            </a:extLst>
          </p:cNvPr>
          <p:cNvPicPr>
            <a:picLocks noChangeAspect="1"/>
          </p:cNvPicPr>
          <p:nvPr/>
        </p:nvPicPr>
        <p:blipFill>
          <a:blip r:embed="rId4">
            <a:duotone>
              <a:prstClr val="black"/>
              <a:schemeClr val="accent5">
                <a:tint val="45000"/>
                <a:satMod val="400000"/>
              </a:schemeClr>
            </a:duotone>
            <a:alphaModFix amt="25000"/>
            <a:extLst>
              <a:ext uri="{837473B0-CC2E-450A-ABE3-18F120FF3D39}">
                <a1611:picAttrSrcUrl xmlns:a1611="http://schemas.microsoft.com/office/drawing/2016/11/main" r:id="rId5"/>
              </a:ext>
            </a:extLst>
          </a:blip>
          <a:srcRect t="20" b="20"/>
          <a:stretch/>
        </p:blipFill>
        <p:spPr>
          <a:xfrm>
            <a:off x="20" y="0"/>
            <a:ext cx="12191980" cy="6857990"/>
          </a:xfrm>
          <a:prstGeom prst="rect">
            <a:avLst/>
          </a:prstGeom>
        </p:spPr>
      </p:pic>
      <p:sp>
        <p:nvSpPr>
          <p:cNvPr id="2" name="Title 1">
            <a:extLst>
              <a:ext uri="{FF2B5EF4-FFF2-40B4-BE49-F238E27FC236}">
                <a16:creationId xmlns:a16="http://schemas.microsoft.com/office/drawing/2014/main" id="{3D30D32A-359B-41BB-9746-2CF3A21EEFFC}"/>
              </a:ext>
            </a:extLst>
          </p:cNvPr>
          <p:cNvSpPr>
            <a:spLocks noGrp="1"/>
          </p:cNvSpPr>
          <p:nvPr>
            <p:ph type="ctrTitle"/>
          </p:nvPr>
        </p:nvSpPr>
        <p:spPr>
          <a:xfrm>
            <a:off x="548641" y="819397"/>
            <a:ext cx="9797142" cy="881744"/>
          </a:xfrm>
        </p:spPr>
        <p:txBody>
          <a:bodyPr>
            <a:normAutofit/>
          </a:bodyPr>
          <a:lstStyle/>
          <a:p>
            <a:r>
              <a:rPr lang="en-US" sz="4800" b="1" dirty="0"/>
              <a:t>Intelligent Inventory</a:t>
            </a:r>
            <a:endParaRPr lang="ru-RU" sz="4800" dirty="0"/>
          </a:p>
        </p:txBody>
      </p:sp>
      <p:sp>
        <p:nvSpPr>
          <p:cNvPr id="3" name="Subtitle 2">
            <a:extLst>
              <a:ext uri="{FF2B5EF4-FFF2-40B4-BE49-F238E27FC236}">
                <a16:creationId xmlns:a16="http://schemas.microsoft.com/office/drawing/2014/main" id="{B4CA222A-88BC-48F4-9AE8-2115B7D1E6DC}"/>
              </a:ext>
            </a:extLst>
          </p:cNvPr>
          <p:cNvSpPr>
            <a:spLocks noGrp="1"/>
          </p:cNvSpPr>
          <p:nvPr>
            <p:ph type="subTitle" idx="1"/>
          </p:nvPr>
        </p:nvSpPr>
        <p:spPr>
          <a:xfrm>
            <a:off x="551182" y="1787675"/>
            <a:ext cx="8825658" cy="1276827"/>
          </a:xfrm>
        </p:spPr>
        <p:txBody>
          <a:bodyPr>
            <a:normAutofit lnSpcReduction="10000"/>
          </a:bodyPr>
          <a:lstStyle/>
          <a:p>
            <a:r>
              <a:rPr lang="en-US" sz="3900" dirty="0"/>
              <a:t>A Time Series Analysis and LSTM Optimization</a:t>
            </a:r>
            <a:endParaRPr lang="en-US" dirty="0"/>
          </a:p>
          <a:p>
            <a:endParaRPr lang="en-US" dirty="0"/>
          </a:p>
        </p:txBody>
      </p:sp>
      <p:sp>
        <p:nvSpPr>
          <p:cNvPr id="20" name="Rectangle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2BDF4167-38BC-188F-5C59-FD7F4BB8CA53}"/>
              </a:ext>
            </a:extLst>
          </p:cNvPr>
          <p:cNvSpPr txBox="1"/>
          <p:nvPr/>
        </p:nvSpPr>
        <p:spPr>
          <a:xfrm>
            <a:off x="548641" y="4226883"/>
            <a:ext cx="2329484" cy="461665"/>
          </a:xfrm>
          <a:prstGeom prst="rect">
            <a:avLst/>
          </a:prstGeom>
          <a:noFill/>
        </p:spPr>
        <p:txBody>
          <a:bodyPr wrap="none" rtlCol="0">
            <a:spAutoFit/>
          </a:bodyPr>
          <a:lstStyle/>
          <a:p>
            <a:r>
              <a:rPr lang="en-US" sz="2400" dirty="0"/>
              <a:t>Edwin Quijano</a:t>
            </a:r>
          </a:p>
        </p:txBody>
      </p:sp>
      <p:sp>
        <p:nvSpPr>
          <p:cNvPr id="6" name="TextBox 5">
            <a:extLst>
              <a:ext uri="{FF2B5EF4-FFF2-40B4-BE49-F238E27FC236}">
                <a16:creationId xmlns:a16="http://schemas.microsoft.com/office/drawing/2014/main" id="{669D27F3-8FE7-EE02-C966-8518AAC01E0E}"/>
              </a:ext>
            </a:extLst>
          </p:cNvPr>
          <p:cNvSpPr txBox="1"/>
          <p:nvPr/>
        </p:nvSpPr>
        <p:spPr>
          <a:xfrm>
            <a:off x="548641" y="5355619"/>
            <a:ext cx="7822975" cy="369332"/>
          </a:xfrm>
          <a:prstGeom prst="rect">
            <a:avLst/>
          </a:prstGeom>
          <a:noFill/>
        </p:spPr>
        <p:txBody>
          <a:bodyPr wrap="none" rtlCol="0">
            <a:spAutoFit/>
          </a:bodyPr>
          <a:lstStyle/>
          <a:p>
            <a:r>
              <a:rPr lang="en-US" dirty="0"/>
              <a:t>Capstone Project In Data Science IDC-6940 | Professor Dr. </a:t>
            </a:r>
            <a:r>
              <a:rPr lang="en-US" dirty="0" err="1"/>
              <a:t>Shusen</a:t>
            </a:r>
            <a:r>
              <a:rPr lang="en-US" dirty="0"/>
              <a:t> Pu</a:t>
            </a:r>
          </a:p>
        </p:txBody>
      </p:sp>
      <p:sp>
        <p:nvSpPr>
          <p:cNvPr id="7" name="TextBox 6">
            <a:extLst>
              <a:ext uri="{FF2B5EF4-FFF2-40B4-BE49-F238E27FC236}">
                <a16:creationId xmlns:a16="http://schemas.microsoft.com/office/drawing/2014/main" id="{34823C1B-C412-DA73-0640-6850290B564B}"/>
              </a:ext>
            </a:extLst>
          </p:cNvPr>
          <p:cNvSpPr txBox="1"/>
          <p:nvPr/>
        </p:nvSpPr>
        <p:spPr>
          <a:xfrm>
            <a:off x="548641" y="4893954"/>
            <a:ext cx="3809056" cy="461665"/>
          </a:xfrm>
          <a:prstGeom prst="rect">
            <a:avLst/>
          </a:prstGeom>
          <a:noFill/>
        </p:spPr>
        <p:txBody>
          <a:bodyPr wrap="none" rtlCol="0">
            <a:spAutoFit/>
          </a:bodyPr>
          <a:lstStyle/>
          <a:p>
            <a:r>
              <a:rPr lang="en-US" sz="2400" dirty="0"/>
              <a:t>University of West Florida</a:t>
            </a:r>
          </a:p>
        </p:txBody>
      </p:sp>
    </p:spTree>
    <p:extLst>
      <p:ext uri="{BB962C8B-B14F-4D97-AF65-F5344CB8AC3E}">
        <p14:creationId xmlns:p14="http://schemas.microsoft.com/office/powerpoint/2010/main" val="19300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7282F-5788-664D-0909-AD4BB4847B88}"/>
              </a:ext>
            </a:extLst>
          </p:cNvPr>
          <p:cNvSpPr>
            <a:spLocks noGrp="1"/>
          </p:cNvSpPr>
          <p:nvPr>
            <p:ph type="title"/>
          </p:nvPr>
        </p:nvSpPr>
        <p:spPr/>
        <p:txBody>
          <a:bodyPr/>
          <a:lstStyle/>
          <a:p>
            <a:r>
              <a:rPr lang="en-US" dirty="0"/>
              <a:t>Project Background</a:t>
            </a:r>
          </a:p>
        </p:txBody>
      </p:sp>
      <p:sp>
        <p:nvSpPr>
          <p:cNvPr id="8" name="Content Placeholder 7">
            <a:extLst>
              <a:ext uri="{FF2B5EF4-FFF2-40B4-BE49-F238E27FC236}">
                <a16:creationId xmlns:a16="http://schemas.microsoft.com/office/drawing/2014/main" id="{1A02EFF4-8732-196F-B518-201C4B081530}"/>
              </a:ext>
            </a:extLst>
          </p:cNvPr>
          <p:cNvSpPr>
            <a:spLocks noGrp="1"/>
          </p:cNvSpPr>
          <p:nvPr>
            <p:ph idx="1"/>
          </p:nvPr>
        </p:nvSpPr>
        <p:spPr/>
        <p:txBody>
          <a:bodyPr/>
          <a:lstStyle/>
          <a:p>
            <a:r>
              <a:rPr lang="en-US" dirty="0"/>
              <a:t>Inventory</a:t>
            </a:r>
            <a:r>
              <a:rPr lang="en-US" baseline="0" dirty="0"/>
              <a:t> storage during 2020 to 2022 disruption due to Covid19.</a:t>
            </a:r>
          </a:p>
          <a:p>
            <a:r>
              <a:rPr lang="en-US" baseline="0" dirty="0"/>
              <a:t>Normalization of inventories in 2023 and 2024.</a:t>
            </a:r>
          </a:p>
          <a:p>
            <a:r>
              <a:rPr lang="en-US" baseline="0" dirty="0"/>
              <a:t>U.S political policies affecting supply chain in 2025.</a:t>
            </a:r>
          </a:p>
          <a:p>
            <a:r>
              <a:rPr lang="en-US" baseline="0" dirty="0"/>
              <a:t>Shipments are re-routed to South America </a:t>
            </a:r>
            <a:r>
              <a:rPr lang="en-US" dirty="0"/>
              <a:t>to reduce costs.</a:t>
            </a:r>
          </a:p>
          <a:p>
            <a:r>
              <a:rPr lang="en-US" baseline="0" dirty="0"/>
              <a:t>The challenge of limited warehouse</a:t>
            </a:r>
            <a:r>
              <a:rPr lang="en-US" dirty="0"/>
              <a:t> space.</a:t>
            </a:r>
            <a:endParaRPr lang="en-US" baseline="0" dirty="0"/>
          </a:p>
          <a:p>
            <a:pPr marL="0" indent="0">
              <a:buNone/>
            </a:pPr>
            <a:endParaRPr lang="en-US" baseline="0" dirty="0"/>
          </a:p>
        </p:txBody>
      </p:sp>
    </p:spTree>
    <p:extLst>
      <p:ext uri="{BB962C8B-B14F-4D97-AF65-F5344CB8AC3E}">
        <p14:creationId xmlns:p14="http://schemas.microsoft.com/office/powerpoint/2010/main" val="1173705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71E7D-3ED3-F11B-4E59-6591362002D5}"/>
              </a:ext>
            </a:extLst>
          </p:cNvPr>
          <p:cNvSpPr>
            <a:spLocks noGrp="1"/>
          </p:cNvSpPr>
          <p:nvPr>
            <p:ph type="title"/>
          </p:nvPr>
        </p:nvSpPr>
        <p:spPr/>
        <p:txBody>
          <a:bodyPr/>
          <a:lstStyle/>
          <a:p>
            <a:r>
              <a:rPr lang="en-US" dirty="0"/>
              <a:t>Why Forecasting Is Important</a:t>
            </a:r>
          </a:p>
        </p:txBody>
      </p:sp>
      <p:sp>
        <p:nvSpPr>
          <p:cNvPr id="3" name="Content Placeholder 2">
            <a:extLst>
              <a:ext uri="{FF2B5EF4-FFF2-40B4-BE49-F238E27FC236}">
                <a16:creationId xmlns:a16="http://schemas.microsoft.com/office/drawing/2014/main" id="{F21D162B-9CEE-3C3D-76FC-D344F8C27EF4}"/>
              </a:ext>
            </a:extLst>
          </p:cNvPr>
          <p:cNvSpPr>
            <a:spLocks noGrp="1"/>
          </p:cNvSpPr>
          <p:nvPr>
            <p:ph idx="1"/>
          </p:nvPr>
        </p:nvSpPr>
        <p:spPr/>
        <p:txBody>
          <a:bodyPr/>
          <a:lstStyle/>
          <a:p>
            <a:r>
              <a:rPr lang="en-US" dirty="0"/>
              <a:t>Helps Plan Warehouse Capacity</a:t>
            </a:r>
          </a:p>
          <a:p>
            <a:r>
              <a:rPr lang="en-US" dirty="0"/>
              <a:t>Improves Labor &amp; Staffing Plans</a:t>
            </a:r>
          </a:p>
          <a:p>
            <a:r>
              <a:rPr lang="en-US" dirty="0"/>
              <a:t>Reduces Congestion and Cycle Time</a:t>
            </a:r>
          </a:p>
          <a:p>
            <a:r>
              <a:rPr lang="en-US" dirty="0"/>
              <a:t>Enables Better Inventory Strategy</a:t>
            </a:r>
          </a:p>
          <a:p>
            <a:r>
              <a:rPr lang="en-US" dirty="0"/>
              <a:t>Supports Financial and Operational Planning</a:t>
            </a:r>
          </a:p>
          <a:p>
            <a:r>
              <a:rPr lang="en-US" dirty="0"/>
              <a:t>Improves Vendor and Inbound Scheduling</a:t>
            </a:r>
          </a:p>
          <a:p>
            <a:r>
              <a:rPr lang="en-US" dirty="0"/>
              <a:t>Creates Early Warning Signals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22938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BE12D-3537-1053-83BE-FD59C26599DB}"/>
              </a:ext>
            </a:extLst>
          </p:cNvPr>
          <p:cNvSpPr>
            <a:spLocks noGrp="1"/>
          </p:cNvSpPr>
          <p:nvPr>
            <p:ph type="title"/>
          </p:nvPr>
        </p:nvSpPr>
        <p:spPr/>
        <p:txBody>
          <a:bodyPr/>
          <a:lstStyle/>
          <a:p>
            <a:r>
              <a:rPr lang="en-US" dirty="0"/>
              <a:t>Key variables</a:t>
            </a:r>
          </a:p>
        </p:txBody>
      </p:sp>
      <p:pic>
        <p:nvPicPr>
          <p:cNvPr id="4" name="Picture 3" descr="A screenshot of a computer program&#10;&#10;AI-generated content may be incorrect.">
            <a:extLst>
              <a:ext uri="{FF2B5EF4-FFF2-40B4-BE49-F238E27FC236}">
                <a16:creationId xmlns:a16="http://schemas.microsoft.com/office/drawing/2014/main" id="{71849516-4B2D-4DDE-3989-CD3AEBA59BE4}"/>
              </a:ext>
            </a:extLst>
          </p:cNvPr>
          <p:cNvPicPr>
            <a:picLocks noChangeAspect="1"/>
          </p:cNvPicPr>
          <p:nvPr/>
        </p:nvPicPr>
        <p:blipFill>
          <a:blip r:embed="rId3"/>
          <a:stretch>
            <a:fillRect/>
          </a:stretch>
        </p:blipFill>
        <p:spPr>
          <a:xfrm>
            <a:off x="784335" y="3349262"/>
            <a:ext cx="10175371" cy="159723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114B160D-C685-0CDD-FF73-47A4645021F0}"/>
              </a:ext>
            </a:extLst>
          </p:cNvPr>
          <p:cNvPicPr>
            <a:picLocks noChangeAspect="1"/>
          </p:cNvPicPr>
          <p:nvPr/>
        </p:nvPicPr>
        <p:blipFill>
          <a:blip r:embed="rId4"/>
          <a:stretch>
            <a:fillRect/>
          </a:stretch>
        </p:blipFill>
        <p:spPr>
          <a:xfrm>
            <a:off x="2050841" y="5131039"/>
            <a:ext cx="9506750" cy="1580945"/>
          </a:xfrm>
          <a:prstGeom prst="rect">
            <a:avLst/>
          </a:prstGeom>
        </p:spPr>
      </p:pic>
      <p:sp>
        <p:nvSpPr>
          <p:cNvPr id="3" name="Content Placeholder 2">
            <a:extLst>
              <a:ext uri="{FF2B5EF4-FFF2-40B4-BE49-F238E27FC236}">
                <a16:creationId xmlns:a16="http://schemas.microsoft.com/office/drawing/2014/main" id="{7F573C3F-016E-0C84-4F60-1E7ED20CD878}"/>
              </a:ext>
            </a:extLst>
          </p:cNvPr>
          <p:cNvSpPr>
            <a:spLocks noGrp="1"/>
          </p:cNvSpPr>
          <p:nvPr>
            <p:ph idx="1"/>
          </p:nvPr>
        </p:nvSpPr>
        <p:spPr>
          <a:xfrm>
            <a:off x="784335" y="1403079"/>
            <a:ext cx="8946541" cy="2476091"/>
          </a:xfrm>
        </p:spPr>
        <p:txBody>
          <a:bodyPr/>
          <a:lstStyle/>
          <a:p>
            <a:r>
              <a:rPr lang="en-US" dirty="0"/>
              <a:t>10,000 rows</a:t>
            </a:r>
          </a:p>
          <a:p>
            <a:r>
              <a:rPr lang="en-US" dirty="0"/>
              <a:t>4 product categories</a:t>
            </a:r>
          </a:p>
          <a:p>
            <a:r>
              <a:rPr lang="en-US" dirty="0"/>
              <a:t>Product dimensions</a:t>
            </a:r>
          </a:p>
          <a:p>
            <a:r>
              <a:rPr lang="en-US" dirty="0"/>
              <a:t>Stock quantity</a:t>
            </a:r>
          </a:p>
        </p:txBody>
      </p:sp>
    </p:spTree>
    <p:extLst>
      <p:ext uri="{BB962C8B-B14F-4D97-AF65-F5344CB8AC3E}">
        <p14:creationId xmlns:p14="http://schemas.microsoft.com/office/powerpoint/2010/main" val="2723672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BFACA-1552-4E6F-17AD-EBCA3994FC7A}"/>
              </a:ext>
            </a:extLst>
          </p:cNvPr>
          <p:cNvSpPr>
            <a:spLocks noGrp="1"/>
          </p:cNvSpPr>
          <p:nvPr>
            <p:ph type="title"/>
          </p:nvPr>
        </p:nvSpPr>
        <p:spPr/>
        <p:txBody>
          <a:bodyPr/>
          <a:lstStyle/>
          <a:p>
            <a:r>
              <a:rPr lang="en-US" dirty="0"/>
              <a:t>MODEL &amp; METHODOLOGY</a:t>
            </a:r>
          </a:p>
        </p:txBody>
      </p:sp>
      <p:sp>
        <p:nvSpPr>
          <p:cNvPr id="6" name="Content Placeholder 5">
            <a:extLst>
              <a:ext uri="{FF2B5EF4-FFF2-40B4-BE49-F238E27FC236}">
                <a16:creationId xmlns:a16="http://schemas.microsoft.com/office/drawing/2014/main" id="{A1ECFB61-B65B-1D51-A71C-C5FDB2EF2FF1}"/>
              </a:ext>
            </a:extLst>
          </p:cNvPr>
          <p:cNvSpPr>
            <a:spLocks noGrp="1"/>
          </p:cNvSpPr>
          <p:nvPr>
            <p:ph idx="1"/>
          </p:nvPr>
        </p:nvSpPr>
        <p:spPr>
          <a:xfrm>
            <a:off x="355784" y="1725372"/>
            <a:ext cx="4992688" cy="2951835"/>
          </a:xfrm>
        </p:spPr>
        <p:txBody>
          <a:bodyPr/>
          <a:lstStyle/>
          <a:p>
            <a:r>
              <a:rPr lang="en-US" dirty="0"/>
              <a:t>Data Preparation for Modeling</a:t>
            </a:r>
          </a:p>
          <a:p>
            <a:r>
              <a:rPr lang="en-US" dirty="0"/>
              <a:t>Stationarity Testing (ADF Test)</a:t>
            </a:r>
          </a:p>
          <a:p>
            <a:r>
              <a:rPr lang="en-US" dirty="0"/>
              <a:t>SARIMA Model Structure</a:t>
            </a:r>
          </a:p>
          <a:p>
            <a:r>
              <a:rPr lang="en-US" dirty="0"/>
              <a:t>SARIMA Residual Diagnostics</a:t>
            </a:r>
          </a:p>
          <a:p>
            <a:r>
              <a:rPr lang="en-US" dirty="0"/>
              <a:t>VAR Model</a:t>
            </a:r>
          </a:p>
          <a:p>
            <a:endParaRPr lang="en-US" dirty="0"/>
          </a:p>
          <a:p>
            <a:pPr marL="0" indent="0">
              <a:buNone/>
            </a:pPr>
            <a:endParaRPr lang="en-US" dirty="0"/>
          </a:p>
          <a:p>
            <a:pPr marL="0" indent="0">
              <a:buNone/>
            </a:pPr>
            <a:endParaRPr lang="en-US" dirty="0"/>
          </a:p>
          <a:p>
            <a:pPr marL="0" indent="0">
              <a:buNone/>
            </a:pPr>
            <a:endParaRPr lang="en-US" dirty="0"/>
          </a:p>
        </p:txBody>
      </p:sp>
      <p:pic>
        <p:nvPicPr>
          <p:cNvPr id="9" name="Picture 8">
            <a:extLst>
              <a:ext uri="{FF2B5EF4-FFF2-40B4-BE49-F238E27FC236}">
                <a16:creationId xmlns:a16="http://schemas.microsoft.com/office/drawing/2014/main" id="{6728AC5A-17B0-25D6-53E0-2663BB84A7C9}"/>
              </a:ext>
            </a:extLst>
          </p:cNvPr>
          <p:cNvPicPr>
            <a:picLocks noChangeAspect="1"/>
          </p:cNvPicPr>
          <p:nvPr/>
        </p:nvPicPr>
        <p:blipFill>
          <a:blip r:embed="rId3"/>
          <a:stretch>
            <a:fillRect/>
          </a:stretch>
        </p:blipFill>
        <p:spPr>
          <a:xfrm>
            <a:off x="4683884" y="1853248"/>
            <a:ext cx="7375981" cy="4552034"/>
          </a:xfrm>
          <a:prstGeom prst="rect">
            <a:avLst/>
          </a:prstGeom>
        </p:spPr>
      </p:pic>
    </p:spTree>
    <p:extLst>
      <p:ext uri="{BB962C8B-B14F-4D97-AF65-F5344CB8AC3E}">
        <p14:creationId xmlns:p14="http://schemas.microsoft.com/office/powerpoint/2010/main" val="1771003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3A321-7114-53DB-F6F0-9898BB39A12F}"/>
              </a:ext>
            </a:extLst>
          </p:cNvPr>
          <p:cNvSpPr>
            <a:spLocks noGrp="1"/>
          </p:cNvSpPr>
          <p:nvPr>
            <p:ph type="title"/>
          </p:nvPr>
        </p:nvSpPr>
        <p:spPr/>
        <p:txBody>
          <a:bodyPr/>
          <a:lstStyle/>
          <a:p>
            <a:r>
              <a:rPr lang="en-US" dirty="0"/>
              <a:t>RESULTS &amp; INTERPRETATION</a:t>
            </a:r>
          </a:p>
        </p:txBody>
      </p:sp>
      <p:pic>
        <p:nvPicPr>
          <p:cNvPr id="4" name="Picture 3">
            <a:extLst>
              <a:ext uri="{FF2B5EF4-FFF2-40B4-BE49-F238E27FC236}">
                <a16:creationId xmlns:a16="http://schemas.microsoft.com/office/drawing/2014/main" id="{3ECB1756-4367-86A9-7FCA-E2228093A6DE}"/>
              </a:ext>
            </a:extLst>
          </p:cNvPr>
          <p:cNvPicPr>
            <a:picLocks noChangeAspect="1"/>
          </p:cNvPicPr>
          <p:nvPr/>
        </p:nvPicPr>
        <p:blipFill>
          <a:blip r:embed="rId3"/>
          <a:stretch>
            <a:fillRect/>
          </a:stretch>
        </p:blipFill>
        <p:spPr>
          <a:xfrm>
            <a:off x="4269876" y="1385248"/>
            <a:ext cx="6818812" cy="3528041"/>
          </a:xfrm>
          <a:prstGeom prst="rect">
            <a:avLst/>
          </a:prstGeom>
        </p:spPr>
      </p:pic>
      <p:pic>
        <p:nvPicPr>
          <p:cNvPr id="6" name="Picture 5">
            <a:extLst>
              <a:ext uri="{FF2B5EF4-FFF2-40B4-BE49-F238E27FC236}">
                <a16:creationId xmlns:a16="http://schemas.microsoft.com/office/drawing/2014/main" id="{516010F1-C994-69DC-5FB7-B1701B821F6D}"/>
              </a:ext>
            </a:extLst>
          </p:cNvPr>
          <p:cNvPicPr>
            <a:picLocks noChangeAspect="1"/>
          </p:cNvPicPr>
          <p:nvPr/>
        </p:nvPicPr>
        <p:blipFill>
          <a:blip r:embed="rId4"/>
          <a:stretch>
            <a:fillRect/>
          </a:stretch>
        </p:blipFill>
        <p:spPr>
          <a:xfrm>
            <a:off x="192930" y="5004753"/>
            <a:ext cx="11806139" cy="1529586"/>
          </a:xfrm>
          <a:prstGeom prst="rect">
            <a:avLst/>
          </a:prstGeom>
        </p:spPr>
      </p:pic>
      <p:sp>
        <p:nvSpPr>
          <p:cNvPr id="7" name="Content Placeholder 6">
            <a:extLst>
              <a:ext uri="{FF2B5EF4-FFF2-40B4-BE49-F238E27FC236}">
                <a16:creationId xmlns:a16="http://schemas.microsoft.com/office/drawing/2014/main" id="{ADC47091-A456-4B0E-E4F9-6263274FFAA0}"/>
              </a:ext>
            </a:extLst>
          </p:cNvPr>
          <p:cNvSpPr>
            <a:spLocks noGrp="1"/>
          </p:cNvSpPr>
          <p:nvPr>
            <p:ph idx="1"/>
          </p:nvPr>
        </p:nvSpPr>
        <p:spPr/>
        <p:txBody>
          <a:bodyPr/>
          <a:lstStyle/>
          <a:p>
            <a:r>
              <a:rPr lang="en-US" dirty="0"/>
              <a:t>Total space usage</a:t>
            </a:r>
          </a:p>
          <a:p>
            <a:pPr marL="0" indent="0">
              <a:buNone/>
            </a:pPr>
            <a:endParaRPr lang="en-US" dirty="0"/>
          </a:p>
          <a:p>
            <a:endParaRPr lang="en-US" dirty="0"/>
          </a:p>
        </p:txBody>
      </p:sp>
    </p:spTree>
    <p:extLst>
      <p:ext uri="{BB962C8B-B14F-4D97-AF65-F5344CB8AC3E}">
        <p14:creationId xmlns:p14="http://schemas.microsoft.com/office/powerpoint/2010/main" val="100904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68A2D-5060-5071-9C98-D293607257F2}"/>
              </a:ext>
            </a:extLst>
          </p:cNvPr>
          <p:cNvSpPr>
            <a:spLocks noGrp="1"/>
          </p:cNvSpPr>
          <p:nvPr>
            <p:ph type="title"/>
          </p:nvPr>
        </p:nvSpPr>
        <p:spPr/>
        <p:txBody>
          <a:bodyPr/>
          <a:lstStyle/>
          <a:p>
            <a:r>
              <a:rPr lang="en-US" dirty="0"/>
              <a:t>Stock vs. Space Correlation</a:t>
            </a:r>
          </a:p>
        </p:txBody>
      </p:sp>
      <p:pic>
        <p:nvPicPr>
          <p:cNvPr id="8" name="Picture 7">
            <a:extLst>
              <a:ext uri="{FF2B5EF4-FFF2-40B4-BE49-F238E27FC236}">
                <a16:creationId xmlns:a16="http://schemas.microsoft.com/office/drawing/2014/main" id="{71683F84-2A61-9D16-C49D-DD1FFE22B8CD}"/>
              </a:ext>
            </a:extLst>
          </p:cNvPr>
          <p:cNvPicPr>
            <a:picLocks noChangeAspect="1"/>
          </p:cNvPicPr>
          <p:nvPr/>
        </p:nvPicPr>
        <p:blipFill>
          <a:blip r:embed="rId3"/>
          <a:stretch>
            <a:fillRect/>
          </a:stretch>
        </p:blipFill>
        <p:spPr>
          <a:xfrm>
            <a:off x="646111" y="1371600"/>
            <a:ext cx="6667500" cy="4114800"/>
          </a:xfrm>
          <a:prstGeom prst="rect">
            <a:avLst/>
          </a:prstGeom>
        </p:spPr>
      </p:pic>
      <p:pic>
        <p:nvPicPr>
          <p:cNvPr id="5" name="Picture 4">
            <a:extLst>
              <a:ext uri="{FF2B5EF4-FFF2-40B4-BE49-F238E27FC236}">
                <a16:creationId xmlns:a16="http://schemas.microsoft.com/office/drawing/2014/main" id="{18D7F36C-E97C-8469-4800-565BC8126EF6}"/>
              </a:ext>
            </a:extLst>
          </p:cNvPr>
          <p:cNvPicPr>
            <a:picLocks noChangeAspect="1"/>
          </p:cNvPicPr>
          <p:nvPr/>
        </p:nvPicPr>
        <p:blipFill>
          <a:blip r:embed="rId4"/>
          <a:stretch>
            <a:fillRect/>
          </a:stretch>
        </p:blipFill>
        <p:spPr>
          <a:xfrm>
            <a:off x="4972281" y="3826793"/>
            <a:ext cx="6620554" cy="2652679"/>
          </a:xfrm>
          <a:prstGeom prst="rect">
            <a:avLst/>
          </a:prstGeom>
        </p:spPr>
      </p:pic>
    </p:spTree>
    <p:extLst>
      <p:ext uri="{BB962C8B-B14F-4D97-AF65-F5344CB8AC3E}">
        <p14:creationId xmlns:p14="http://schemas.microsoft.com/office/powerpoint/2010/main" val="2535301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F7D64F-7DA9-BBA5-883D-806AF8273856}"/>
              </a:ext>
            </a:extLst>
          </p:cNvPr>
          <p:cNvSpPr>
            <a:spLocks noGrp="1"/>
          </p:cNvSpPr>
          <p:nvPr>
            <p:ph type="title"/>
          </p:nvPr>
        </p:nvSpPr>
        <p:spPr/>
        <p:txBody>
          <a:bodyPr/>
          <a:lstStyle/>
          <a:p>
            <a:r>
              <a:rPr lang="en-US" dirty="0"/>
              <a:t>Total Space</a:t>
            </a:r>
            <a:r>
              <a:rPr lang="en-US" baseline="0" dirty="0"/>
              <a:t> – </a:t>
            </a:r>
            <a:r>
              <a:rPr lang="en-US" dirty="0"/>
              <a:t>Non-Stationarity</a:t>
            </a:r>
          </a:p>
        </p:txBody>
      </p:sp>
      <p:pic>
        <p:nvPicPr>
          <p:cNvPr id="6" name="Picture 5">
            <a:extLst>
              <a:ext uri="{FF2B5EF4-FFF2-40B4-BE49-F238E27FC236}">
                <a16:creationId xmlns:a16="http://schemas.microsoft.com/office/drawing/2014/main" id="{F1500ED4-6495-6032-E427-661BA99CACFA}"/>
              </a:ext>
            </a:extLst>
          </p:cNvPr>
          <p:cNvPicPr>
            <a:picLocks noChangeAspect="1"/>
          </p:cNvPicPr>
          <p:nvPr/>
        </p:nvPicPr>
        <p:blipFill>
          <a:blip r:embed="rId3"/>
          <a:stretch>
            <a:fillRect/>
          </a:stretch>
        </p:blipFill>
        <p:spPr>
          <a:xfrm>
            <a:off x="160874" y="1412290"/>
            <a:ext cx="5475652" cy="3382863"/>
          </a:xfrm>
          <a:prstGeom prst="rect">
            <a:avLst/>
          </a:prstGeom>
        </p:spPr>
      </p:pic>
      <p:pic>
        <p:nvPicPr>
          <p:cNvPr id="10" name="Picture 9">
            <a:extLst>
              <a:ext uri="{FF2B5EF4-FFF2-40B4-BE49-F238E27FC236}">
                <a16:creationId xmlns:a16="http://schemas.microsoft.com/office/drawing/2014/main" id="{0FC08108-8160-AF0C-93CC-A938F716C461}"/>
              </a:ext>
            </a:extLst>
          </p:cNvPr>
          <p:cNvPicPr>
            <a:picLocks noChangeAspect="1"/>
          </p:cNvPicPr>
          <p:nvPr/>
        </p:nvPicPr>
        <p:blipFill>
          <a:blip r:embed="rId4"/>
          <a:stretch>
            <a:fillRect/>
          </a:stretch>
        </p:blipFill>
        <p:spPr>
          <a:xfrm>
            <a:off x="5482225" y="2674961"/>
            <a:ext cx="6449614" cy="3984578"/>
          </a:xfrm>
          <a:prstGeom prst="rect">
            <a:avLst/>
          </a:prstGeom>
        </p:spPr>
      </p:pic>
    </p:spTree>
    <p:extLst>
      <p:ext uri="{BB962C8B-B14F-4D97-AF65-F5344CB8AC3E}">
        <p14:creationId xmlns:p14="http://schemas.microsoft.com/office/powerpoint/2010/main" val="2259075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D419D-8698-A362-15A2-E0D3B3C89EC0}"/>
              </a:ext>
            </a:extLst>
          </p:cNvPr>
          <p:cNvSpPr>
            <a:spLocks noGrp="1"/>
          </p:cNvSpPr>
          <p:nvPr>
            <p:ph type="title"/>
          </p:nvPr>
        </p:nvSpPr>
        <p:spPr/>
        <p:txBody>
          <a:bodyPr/>
          <a:lstStyle/>
          <a:p>
            <a:r>
              <a:rPr lang="en-US" sz="4200" b="0" i="0" kern="1200" dirty="0">
                <a:solidFill>
                  <a:schemeClr val="tx2"/>
                </a:solidFill>
                <a:effectLst/>
                <a:latin typeface="+mj-lt"/>
                <a:ea typeface="+mj-ea"/>
                <a:cs typeface="+mj-cs"/>
              </a:rPr>
              <a:t>Augmented Dickey–Fuller (ADF) test</a:t>
            </a:r>
            <a:endParaRPr lang="en-US" dirty="0"/>
          </a:p>
        </p:txBody>
      </p:sp>
      <p:pic>
        <p:nvPicPr>
          <p:cNvPr id="4" name="Picture 3" descr="A screenshot of a computer program&#10;&#10;AI-generated content may be incorrect.">
            <a:extLst>
              <a:ext uri="{FF2B5EF4-FFF2-40B4-BE49-F238E27FC236}">
                <a16:creationId xmlns:a16="http://schemas.microsoft.com/office/drawing/2014/main" id="{70CDF612-B7AD-43CA-B53E-9DD739E050D3}"/>
              </a:ext>
            </a:extLst>
          </p:cNvPr>
          <p:cNvPicPr>
            <a:picLocks noChangeAspect="1"/>
          </p:cNvPicPr>
          <p:nvPr/>
        </p:nvPicPr>
        <p:blipFill>
          <a:blip r:embed="rId3"/>
          <a:stretch>
            <a:fillRect/>
          </a:stretch>
        </p:blipFill>
        <p:spPr>
          <a:xfrm>
            <a:off x="646110" y="2033517"/>
            <a:ext cx="9404723" cy="4271610"/>
          </a:xfrm>
          <a:prstGeom prst="rect">
            <a:avLst/>
          </a:prstGeom>
        </p:spPr>
      </p:pic>
    </p:spTree>
    <p:extLst>
      <p:ext uri="{BB962C8B-B14F-4D97-AF65-F5344CB8AC3E}">
        <p14:creationId xmlns:p14="http://schemas.microsoft.com/office/powerpoint/2010/main" val="2745787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D47E-BE21-C66C-0027-3B4BA06D592D}"/>
              </a:ext>
            </a:extLst>
          </p:cNvPr>
          <p:cNvSpPr>
            <a:spLocks noGrp="1"/>
          </p:cNvSpPr>
          <p:nvPr>
            <p:ph type="title"/>
          </p:nvPr>
        </p:nvSpPr>
        <p:spPr>
          <a:xfrm>
            <a:off x="671377" y="364829"/>
            <a:ext cx="9404723" cy="1400530"/>
          </a:xfrm>
        </p:spPr>
        <p:txBody>
          <a:bodyPr/>
          <a:lstStyle/>
          <a:p>
            <a:r>
              <a:rPr lang="en-US" dirty="0"/>
              <a:t>Total Space with difference</a:t>
            </a:r>
          </a:p>
        </p:txBody>
      </p:sp>
      <p:pic>
        <p:nvPicPr>
          <p:cNvPr id="4" name="Picture 3">
            <a:extLst>
              <a:ext uri="{FF2B5EF4-FFF2-40B4-BE49-F238E27FC236}">
                <a16:creationId xmlns:a16="http://schemas.microsoft.com/office/drawing/2014/main" id="{CAD58FED-159E-6524-8202-48B35E2C4052}"/>
              </a:ext>
            </a:extLst>
          </p:cNvPr>
          <p:cNvPicPr>
            <a:picLocks noChangeAspect="1"/>
          </p:cNvPicPr>
          <p:nvPr/>
        </p:nvPicPr>
        <p:blipFill>
          <a:blip r:embed="rId3"/>
          <a:stretch>
            <a:fillRect/>
          </a:stretch>
        </p:blipFill>
        <p:spPr>
          <a:xfrm>
            <a:off x="191921" y="1333252"/>
            <a:ext cx="6085114" cy="3759390"/>
          </a:xfrm>
          <a:prstGeom prst="rect">
            <a:avLst/>
          </a:prstGeom>
        </p:spPr>
      </p:pic>
      <p:pic>
        <p:nvPicPr>
          <p:cNvPr id="5" name="Picture 4">
            <a:extLst>
              <a:ext uri="{FF2B5EF4-FFF2-40B4-BE49-F238E27FC236}">
                <a16:creationId xmlns:a16="http://schemas.microsoft.com/office/drawing/2014/main" id="{943B1956-054C-E93A-92E9-EC237D500731}"/>
              </a:ext>
            </a:extLst>
          </p:cNvPr>
          <p:cNvPicPr>
            <a:picLocks noChangeAspect="1"/>
          </p:cNvPicPr>
          <p:nvPr/>
        </p:nvPicPr>
        <p:blipFill>
          <a:blip r:embed="rId4"/>
          <a:stretch>
            <a:fillRect/>
          </a:stretch>
        </p:blipFill>
        <p:spPr>
          <a:xfrm>
            <a:off x="5373739" y="2511188"/>
            <a:ext cx="6626340" cy="4093760"/>
          </a:xfrm>
          <a:prstGeom prst="rect">
            <a:avLst/>
          </a:prstGeom>
        </p:spPr>
      </p:pic>
    </p:spTree>
    <p:extLst>
      <p:ext uri="{BB962C8B-B14F-4D97-AF65-F5344CB8AC3E}">
        <p14:creationId xmlns:p14="http://schemas.microsoft.com/office/powerpoint/2010/main" val="789670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D744C-2363-83D6-CCDA-0586CBDF0E05}"/>
              </a:ext>
            </a:extLst>
          </p:cNvPr>
          <p:cNvSpPr>
            <a:spLocks noGrp="1"/>
          </p:cNvSpPr>
          <p:nvPr>
            <p:ph type="title"/>
          </p:nvPr>
        </p:nvSpPr>
        <p:spPr/>
        <p:txBody>
          <a:bodyPr/>
          <a:lstStyle/>
          <a:p>
            <a:r>
              <a:rPr lang="en-US" dirty="0"/>
              <a:t>SARIMA Model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C27F5A3-BCE0-8BCD-C112-76249058AA3E}"/>
                  </a:ext>
                </a:extLst>
              </p:cNvPr>
              <p:cNvSpPr txBox="1"/>
              <p:nvPr/>
            </p:nvSpPr>
            <p:spPr>
              <a:xfrm>
                <a:off x="1021277" y="1306496"/>
                <a:ext cx="9692215" cy="4592411"/>
              </a:xfrm>
              <a:prstGeom prst="rect">
                <a:avLst/>
              </a:prstGeom>
              <a:noFill/>
            </p:spPr>
            <p:txBody>
              <a:bodyPr wrap="square" rtlCol="0">
                <a:spAutoFit/>
              </a:bodyPr>
              <a:lstStyle/>
              <a:p>
                <a:r>
                  <a:rPr lang="en-US" sz="2400" b="1" dirty="0"/>
                  <a:t>SARIMA (</a:t>
                </a:r>
                <a:r>
                  <a:rPr lang="en-US" sz="2400" i="1" dirty="0" err="1"/>
                  <a:t>p,d,q</a:t>
                </a:r>
                <a:r>
                  <a:rPr lang="en-US" sz="2400" b="1" dirty="0"/>
                  <a:t>) (</a:t>
                </a:r>
                <a:r>
                  <a:rPr lang="en-US" sz="2400" i="1" dirty="0"/>
                  <a:t>P,D,Q</a:t>
                </a:r>
                <a:r>
                  <a:rPr lang="en-US" sz="2400" b="1" dirty="0"/>
                  <a:t>)</a:t>
                </a:r>
              </a:p>
              <a:p>
                <a:endParaRPr lang="en-US" sz="2800" dirty="0"/>
              </a:p>
              <a:p>
                <a:pPr/>
                <a14:m>
                  <m:oMathPara xmlns:m="http://schemas.openxmlformats.org/officeDocument/2006/math">
                    <m:oMathParaPr>
                      <m:jc m:val="centerGroup"/>
                    </m:oMathParaPr>
                    <m:oMath xmlns:m="http://schemas.openxmlformats.org/officeDocument/2006/math">
                      <m:r>
                        <m:rPr>
                          <m:sty m:val="p"/>
                        </m:rPr>
                        <a:rPr lang="en-US" sz="2400">
                          <a:latin typeface="Cambria Math" panose="02040503050406030204" pitchFamily="18" charset="0"/>
                        </a:rPr>
                        <m:t>Φ</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𝐵</m:t>
                          </m:r>
                        </m:e>
                        <m:sup>
                          <m:r>
                            <a:rPr lang="en-US" sz="2400" i="1">
                              <a:latin typeface="Cambria Math" panose="02040503050406030204" pitchFamily="18" charset="0"/>
                            </a:rPr>
                            <m:t>𝑠</m:t>
                          </m:r>
                        </m:sup>
                      </m:sSup>
                      <m:r>
                        <a:rPr lang="en-US" sz="2400" i="1">
                          <a:latin typeface="Cambria Math" panose="02040503050406030204" pitchFamily="18" charset="0"/>
                        </a:rPr>
                        <m:t>)</m:t>
                      </m:r>
                      <m:r>
                        <a:rPr lang="en-US" sz="2400" i="1">
                          <a:latin typeface="Cambria Math" panose="02040503050406030204" pitchFamily="18" charset="0"/>
                        </a:rPr>
                        <m:t>𝜙</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)(1−</m:t>
                      </m:r>
                      <m:r>
                        <a:rPr lang="en-US" sz="2400" i="1">
                          <a:latin typeface="Cambria Math" panose="02040503050406030204" pitchFamily="18" charset="0"/>
                        </a:rPr>
                        <m:t>𝐵</m:t>
                      </m:r>
                      <m:sSup>
                        <m:sSupPr>
                          <m:ctrlPr>
                            <a:rPr lang="en-US" sz="2400" i="1">
                              <a:latin typeface="Cambria Math" panose="02040503050406030204" pitchFamily="18" charset="0"/>
                            </a:rPr>
                          </m:ctrlPr>
                        </m:sSupPr>
                        <m:e>
                          <m:r>
                            <a:rPr lang="en-US" sz="2400" i="1">
                              <a:latin typeface="Cambria Math" panose="02040503050406030204" pitchFamily="18" charset="0"/>
                            </a:rPr>
                            <m:t>)</m:t>
                          </m:r>
                        </m:e>
                        <m:sup>
                          <m:r>
                            <a:rPr lang="en-US" sz="2400" i="1">
                              <a:latin typeface="Cambria Math" panose="02040503050406030204" pitchFamily="18" charset="0"/>
                            </a:rPr>
                            <m:t>𝑑</m:t>
                          </m:r>
                        </m:sup>
                      </m:sSup>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𝐵</m:t>
                          </m:r>
                        </m:e>
                        <m:sup>
                          <m:r>
                            <a:rPr lang="en-US" sz="2400" i="1">
                              <a:latin typeface="Cambria Math" panose="02040503050406030204" pitchFamily="18" charset="0"/>
                            </a:rPr>
                            <m:t>𝑠</m:t>
                          </m:r>
                        </m:sup>
                      </m:sSup>
                      <m:sSup>
                        <m:sSupPr>
                          <m:ctrlPr>
                            <a:rPr lang="en-US" sz="2400" i="1">
                              <a:latin typeface="Cambria Math" panose="02040503050406030204" pitchFamily="18" charset="0"/>
                            </a:rPr>
                          </m:ctrlPr>
                        </m:sSupPr>
                        <m:e>
                          <m:r>
                            <a:rPr lang="en-US" sz="2400" i="1">
                              <a:latin typeface="Cambria Math" panose="02040503050406030204" pitchFamily="18" charset="0"/>
                            </a:rPr>
                            <m:t>)</m:t>
                          </m:r>
                        </m:e>
                        <m:sup>
                          <m:r>
                            <a:rPr lang="en-US" sz="2400" i="1">
                              <a:latin typeface="Cambria Math" panose="02040503050406030204" pitchFamily="18" charset="0"/>
                            </a:rPr>
                            <m:t>𝐷</m:t>
                          </m:r>
                        </m:sup>
                      </m:sSup>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i="1">
                          <a:latin typeface="Cambria Math" panose="02040503050406030204" pitchFamily="18" charset="0"/>
                        </a:rPr>
                        <m:t>=</m:t>
                      </m:r>
                      <m:r>
                        <m:rPr>
                          <m:sty m:val="p"/>
                        </m:rPr>
                        <a:rPr lang="en-US" sz="2400">
                          <a:latin typeface="Cambria Math" panose="02040503050406030204" pitchFamily="18" charset="0"/>
                        </a:rPr>
                        <m:t>Θ</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𝐵</m:t>
                          </m:r>
                        </m:e>
                        <m:sup>
                          <m:r>
                            <a:rPr lang="en-US" sz="2400" i="1">
                              <a:latin typeface="Cambria Math" panose="02040503050406030204" pitchFamily="18" charset="0"/>
                            </a:rPr>
                            <m:t>𝑠</m:t>
                          </m:r>
                        </m:sup>
                      </m:sSup>
                      <m:r>
                        <a:rPr lang="en-US" sz="2400" i="1">
                          <a:latin typeface="Cambria Math" panose="02040503050406030204" pitchFamily="18" charset="0"/>
                        </a:rPr>
                        <m:t>)</m:t>
                      </m:r>
                      <m:r>
                        <a:rPr lang="en-US" sz="2400" i="1">
                          <a:latin typeface="Cambria Math" panose="02040503050406030204" pitchFamily="18" charset="0"/>
                        </a:rPr>
                        <m:t>𝜃</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𝑡</m:t>
                          </m:r>
                        </m:sub>
                      </m:sSub>
                    </m:oMath>
                  </m:oMathPara>
                </a14:m>
                <a:endParaRPr lang="en-US" sz="2400" dirty="0"/>
              </a:p>
              <a:p>
                <a:endParaRPr lang="en-US" sz="2400" dirty="0"/>
              </a:p>
              <a:p>
                <a:r>
                  <a:rPr lang="en-US" sz="2400" dirty="0"/>
                  <a:t>Where:</a:t>
                </a:r>
              </a:p>
              <a:p>
                <a:pPr lvl="0"/>
                <a14:m>
                  <m:oMath xmlns:m="http://schemas.openxmlformats.org/officeDocument/2006/math">
                    <m:r>
                      <a:rPr lang="en-US" sz="2400" i="1">
                        <a:latin typeface="Cambria Math" panose="02040503050406030204" pitchFamily="18" charset="0"/>
                      </a:rPr>
                      <m:t>𝐵</m:t>
                    </m:r>
                  </m:oMath>
                </a14:m>
                <a:r>
                  <a:rPr lang="en-US" sz="2400" dirty="0"/>
                  <a:t>= backshift operator</a:t>
                </a:r>
              </a:p>
              <a:p>
                <a:pPr lvl="0"/>
                <a14:m>
                  <m:oMath xmlns:m="http://schemas.openxmlformats.org/officeDocument/2006/math">
                    <m:r>
                      <a:rPr lang="en-US" sz="2400" i="1">
                        <a:latin typeface="Cambria Math" panose="02040503050406030204" pitchFamily="18" charset="0"/>
                      </a:rPr>
                      <m:t>𝜙</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oMath>
                </a14:m>
                <a:r>
                  <a:rPr lang="en-US" sz="2400" dirty="0"/>
                  <a:t>= non-seasonal AR</a:t>
                </a:r>
              </a:p>
              <a:p>
                <a:pPr lvl="0"/>
                <a14:m>
                  <m:oMath xmlns:m="http://schemas.openxmlformats.org/officeDocument/2006/math">
                    <m:r>
                      <a:rPr lang="en-US" sz="2400" i="1">
                        <a:latin typeface="Cambria Math" panose="02040503050406030204" pitchFamily="18" charset="0"/>
                      </a:rPr>
                      <m:t>𝜃</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oMath>
                </a14:m>
                <a:r>
                  <a:rPr lang="en-US" sz="2400" dirty="0"/>
                  <a:t>= non-seasonal MA</a:t>
                </a:r>
              </a:p>
              <a:p>
                <a:pPr lvl="0"/>
                <a14:m>
                  <m:oMath xmlns:m="http://schemas.openxmlformats.org/officeDocument/2006/math">
                    <m:r>
                      <m:rPr>
                        <m:sty m:val="p"/>
                      </m:rPr>
                      <a:rPr lang="en-US" sz="2400">
                        <a:latin typeface="Cambria Math" panose="02040503050406030204" pitchFamily="18" charset="0"/>
                      </a:rPr>
                      <m:t>Φ</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𝐵</m:t>
                        </m:r>
                      </m:e>
                      <m:sup>
                        <m:r>
                          <a:rPr lang="en-US" sz="2400" i="1">
                            <a:latin typeface="Cambria Math" panose="02040503050406030204" pitchFamily="18" charset="0"/>
                          </a:rPr>
                          <m:t>𝑠</m:t>
                        </m:r>
                      </m:sup>
                    </m:sSup>
                    <m:r>
                      <a:rPr lang="en-US" sz="2400" i="1">
                        <a:latin typeface="Cambria Math" panose="02040503050406030204" pitchFamily="18" charset="0"/>
                      </a:rPr>
                      <m:t>)</m:t>
                    </m:r>
                  </m:oMath>
                </a14:m>
                <a:r>
                  <a:rPr lang="en-US" sz="2400" dirty="0"/>
                  <a:t>= seasonal AR</a:t>
                </a:r>
              </a:p>
              <a:p>
                <a:pPr lvl="0"/>
                <a14:m>
                  <m:oMath xmlns:m="http://schemas.openxmlformats.org/officeDocument/2006/math">
                    <m:r>
                      <m:rPr>
                        <m:sty m:val="p"/>
                      </m:rPr>
                      <a:rPr lang="en-US" sz="2400">
                        <a:latin typeface="Cambria Math" panose="02040503050406030204" pitchFamily="18" charset="0"/>
                      </a:rPr>
                      <m:t>Θ</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𝐵</m:t>
                        </m:r>
                      </m:e>
                      <m:sup>
                        <m:r>
                          <a:rPr lang="en-US" sz="2400" i="1">
                            <a:latin typeface="Cambria Math" panose="02040503050406030204" pitchFamily="18" charset="0"/>
                          </a:rPr>
                          <m:t>𝑠</m:t>
                        </m:r>
                      </m:sup>
                    </m:sSup>
                    <m:r>
                      <a:rPr lang="en-US" sz="2400" i="1">
                        <a:latin typeface="Cambria Math" panose="02040503050406030204" pitchFamily="18" charset="0"/>
                      </a:rPr>
                      <m:t>)</m:t>
                    </m:r>
                  </m:oMath>
                </a14:m>
                <a:r>
                  <a:rPr lang="en-US" sz="2400" dirty="0"/>
                  <a:t>= seasonal MA</a:t>
                </a:r>
              </a:p>
              <a:p>
                <a:pPr lvl="0"/>
                <a14:m>
                  <m:oMath xmlns:m="http://schemas.openxmlformats.org/officeDocument/2006/math">
                    <m:r>
                      <a:rPr lang="en-US" sz="2400" i="1">
                        <a:latin typeface="Cambria Math" panose="02040503050406030204" pitchFamily="18" charset="0"/>
                      </a:rPr>
                      <m:t>𝑠</m:t>
                    </m:r>
                    <m:r>
                      <a:rPr lang="en-US" sz="2400" i="1">
                        <a:latin typeface="Cambria Math" panose="02040503050406030204" pitchFamily="18" charset="0"/>
                      </a:rPr>
                      <m:t>=7</m:t>
                    </m:r>
                  </m:oMath>
                </a14:m>
                <a:r>
                  <a:rPr lang="en-US" sz="2400" dirty="0"/>
                  <a:t>days (weekly seasonality)</a:t>
                </a:r>
              </a:p>
              <a:p>
                <a:endParaRPr lang="en-US" sz="2400" dirty="0"/>
              </a:p>
            </p:txBody>
          </p:sp>
        </mc:Choice>
        <mc:Fallback xmlns="">
          <p:sp>
            <p:nvSpPr>
              <p:cNvPr id="4" name="TextBox 3">
                <a:extLst>
                  <a:ext uri="{FF2B5EF4-FFF2-40B4-BE49-F238E27FC236}">
                    <a16:creationId xmlns:a16="http://schemas.microsoft.com/office/drawing/2014/main" id="{9C27F5A3-BCE0-8BCD-C112-76249058AA3E}"/>
                  </a:ext>
                </a:extLst>
              </p:cNvPr>
              <p:cNvSpPr txBox="1">
                <a:spLocks noRot="1" noChangeAspect="1" noMove="1" noResize="1" noEditPoints="1" noAdjustHandles="1" noChangeArrowheads="1" noChangeShapeType="1" noTextEdit="1"/>
              </p:cNvSpPr>
              <p:nvPr/>
            </p:nvSpPr>
            <p:spPr>
              <a:xfrm>
                <a:off x="1021277" y="1306496"/>
                <a:ext cx="9692215" cy="4592411"/>
              </a:xfrm>
              <a:prstGeom prst="rect">
                <a:avLst/>
              </a:prstGeom>
              <a:blipFill>
                <a:blip r:embed="rId3"/>
                <a:stretch>
                  <a:fillRect l="-1007" t="-106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6757FDC-2A96-8823-7732-CED977204283}"/>
              </a:ext>
            </a:extLst>
          </p:cNvPr>
          <p:cNvSpPr txBox="1"/>
          <p:nvPr/>
        </p:nvSpPr>
        <p:spPr>
          <a:xfrm>
            <a:off x="646111" y="5668074"/>
            <a:ext cx="8258611" cy="461665"/>
          </a:xfrm>
          <a:prstGeom prst="rect">
            <a:avLst/>
          </a:prstGeom>
          <a:noFill/>
        </p:spPr>
        <p:txBody>
          <a:bodyPr wrap="square" rtlCol="0">
            <a:spAutoFit/>
          </a:bodyPr>
          <a:lstStyle/>
          <a:p>
            <a:r>
              <a:rPr lang="en-US" sz="2400" dirty="0"/>
              <a:t>	</a:t>
            </a:r>
            <a:r>
              <a:rPr lang="en-US" sz="2400" i="1" dirty="0"/>
              <a:t>p</a:t>
            </a:r>
            <a:r>
              <a:rPr lang="en-US" sz="2400" dirty="0"/>
              <a:t>=0, </a:t>
            </a:r>
            <a:r>
              <a:rPr lang="en-US" sz="2400" i="1" dirty="0"/>
              <a:t>d</a:t>
            </a:r>
            <a:r>
              <a:rPr lang="en-US" sz="2400" dirty="0"/>
              <a:t>=1, </a:t>
            </a:r>
            <a:r>
              <a:rPr lang="en-US" sz="2400" i="1" dirty="0"/>
              <a:t>q</a:t>
            </a:r>
            <a:r>
              <a:rPr lang="en-US" sz="2400" dirty="0"/>
              <a:t>=2 	</a:t>
            </a:r>
            <a:r>
              <a:rPr lang="en-US" sz="2400" i="1" dirty="0"/>
              <a:t>P</a:t>
            </a:r>
            <a:r>
              <a:rPr lang="en-US" sz="2400" dirty="0"/>
              <a:t>=2, </a:t>
            </a:r>
            <a:r>
              <a:rPr lang="en-US" sz="2400" i="1" dirty="0"/>
              <a:t>D</a:t>
            </a:r>
            <a:r>
              <a:rPr lang="en-US" sz="2400" dirty="0"/>
              <a:t>=0, </a:t>
            </a:r>
            <a:r>
              <a:rPr lang="en-US" sz="2400" i="1" dirty="0"/>
              <a:t>Q</a:t>
            </a:r>
            <a:r>
              <a:rPr lang="en-US" sz="2400" dirty="0"/>
              <a:t>=2	</a:t>
            </a:r>
            <a:r>
              <a:rPr lang="en-US" sz="2400" i="1" dirty="0"/>
              <a:t>s</a:t>
            </a:r>
            <a:r>
              <a:rPr lang="en-US" sz="2400" dirty="0"/>
              <a:t>=7</a:t>
            </a:r>
          </a:p>
        </p:txBody>
      </p:sp>
    </p:spTree>
    <p:extLst>
      <p:ext uri="{BB962C8B-B14F-4D97-AF65-F5344CB8AC3E}">
        <p14:creationId xmlns:p14="http://schemas.microsoft.com/office/powerpoint/2010/main" val="349617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3BF3D-2CAD-EC8D-F805-32236ECA2331}"/>
              </a:ext>
            </a:extLst>
          </p:cNvPr>
          <p:cNvSpPr>
            <a:spLocks noGrp="1"/>
          </p:cNvSpPr>
          <p:nvPr>
            <p:ph type="title"/>
          </p:nvPr>
        </p:nvSpPr>
        <p:spPr/>
        <p:txBody>
          <a:bodyPr/>
          <a:lstStyle/>
          <a:p>
            <a:r>
              <a:rPr lang="en-US" dirty="0"/>
              <a:t>SARIMA Model Forecast</a:t>
            </a:r>
          </a:p>
        </p:txBody>
      </p:sp>
      <p:pic>
        <p:nvPicPr>
          <p:cNvPr id="5" name="Picture 4">
            <a:extLst>
              <a:ext uri="{FF2B5EF4-FFF2-40B4-BE49-F238E27FC236}">
                <a16:creationId xmlns:a16="http://schemas.microsoft.com/office/drawing/2014/main" id="{02397126-3569-7AC2-1E6B-875D6CDF6913}"/>
              </a:ext>
            </a:extLst>
          </p:cNvPr>
          <p:cNvPicPr>
            <a:picLocks noChangeAspect="1"/>
          </p:cNvPicPr>
          <p:nvPr/>
        </p:nvPicPr>
        <p:blipFill>
          <a:blip r:embed="rId3"/>
          <a:stretch>
            <a:fillRect/>
          </a:stretch>
        </p:blipFill>
        <p:spPr>
          <a:xfrm>
            <a:off x="1795604" y="1128599"/>
            <a:ext cx="8981759" cy="5543028"/>
          </a:xfrm>
          <a:prstGeom prst="rect">
            <a:avLst/>
          </a:prstGeom>
        </p:spPr>
      </p:pic>
    </p:spTree>
    <p:extLst>
      <p:ext uri="{BB962C8B-B14F-4D97-AF65-F5344CB8AC3E}">
        <p14:creationId xmlns:p14="http://schemas.microsoft.com/office/powerpoint/2010/main" val="337648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5A04E-0305-A84F-779B-C3B14B16A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237CC-0FE2-17FE-E8CD-3BAE06F17359}"/>
              </a:ext>
            </a:extLst>
          </p:cNvPr>
          <p:cNvSpPr>
            <a:spLocks noGrp="1"/>
          </p:cNvSpPr>
          <p:nvPr>
            <p:ph type="title"/>
          </p:nvPr>
        </p:nvSpPr>
        <p:spPr/>
        <p:txBody>
          <a:bodyPr/>
          <a:lstStyle/>
          <a:p>
            <a:r>
              <a:rPr lang="en-US" dirty="0"/>
              <a:t>VAR Model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AE6631-193D-D671-F2A1-683C1E3A87ED}"/>
                  </a:ext>
                </a:extLst>
              </p:cNvPr>
              <p:cNvSpPr txBox="1"/>
              <p:nvPr/>
            </p:nvSpPr>
            <p:spPr>
              <a:xfrm>
                <a:off x="646111" y="1853248"/>
                <a:ext cx="9262164" cy="4062651"/>
              </a:xfrm>
              <a:prstGeom prst="rect">
                <a:avLst/>
              </a:prstGeom>
              <a:noFill/>
            </p:spPr>
            <p:txBody>
              <a:bodyPr wrap="square" rtlCol="0">
                <a:spAutoFit/>
              </a:bodyPr>
              <a:lstStyle/>
              <a:p>
                <a:r>
                  <a:rPr lang="en-US" sz="2400" dirty="0"/>
                  <a:t>A VAR(2) means today's changes depend on the last two days.</a:t>
                </a:r>
              </a:p>
              <a:p>
                <a:r>
                  <a:rPr lang="en-US" sz="2400" dirty="0"/>
                  <a:t>The full model:</a:t>
                </a:r>
              </a:p>
              <a:p>
                <a:pPr/>
                <a14:m>
                  <m:oMathPara xmlns:m="http://schemas.openxmlformats.org/officeDocument/2006/math">
                    <m:oMathParaPr>
                      <m:jc m:val="centerGroup"/>
                    </m:oMathParaPr>
                    <m:oMath xmlns:m="http://schemas.openxmlformats.org/officeDocument/2006/math">
                      <m:r>
                        <a:rPr lang="el-GR" sz="2400" b="0" i="1">
                          <a:latin typeface="Cambria Math" panose="02040503050406030204" pitchFamily="18" charset="0"/>
                        </a:rPr>
                        <m:t>𝛥</m:t>
                      </m:r>
                      <m:sSub>
                        <m:sSubPr>
                          <m:ctrlPr>
                            <a:rPr lang="ar-AE" sz="2400" i="1">
                              <a:latin typeface="Cambria Math" panose="02040503050406030204" pitchFamily="18" charset="0"/>
                            </a:rPr>
                          </m:ctrlPr>
                        </m:sSubPr>
                        <m:e>
                          <m:r>
                            <a:rPr lang="ar-AE" sz="2400" b="0" i="1">
                              <a:latin typeface="Cambria Math" panose="02040503050406030204" pitchFamily="18" charset="0"/>
                            </a:rPr>
                            <m:t>𝑦</m:t>
                          </m:r>
                        </m:e>
                        <m:sub>
                          <m:r>
                            <a:rPr lang="ar-AE" sz="2400" b="0" i="1">
                              <a:latin typeface="Cambria Math" panose="02040503050406030204" pitchFamily="18" charset="0"/>
                            </a:rPr>
                            <m:t>𝑡</m:t>
                          </m:r>
                        </m:sub>
                      </m:sSub>
                      <m:r>
                        <a:rPr lang="ar-AE" sz="2400" b="0">
                          <a:latin typeface="Cambria Math" panose="02040503050406030204" pitchFamily="18" charset="0"/>
                        </a:rPr>
                        <m:t>=</m:t>
                      </m:r>
                      <m:r>
                        <a:rPr lang="ar-AE" sz="2400" b="0" i="1">
                          <a:latin typeface="Cambria Math" panose="02040503050406030204" pitchFamily="18" charset="0"/>
                        </a:rPr>
                        <m:t>𝑐</m:t>
                      </m:r>
                      <m:r>
                        <a:rPr lang="ar-AE" sz="2400" b="0">
                          <a:latin typeface="Cambria Math" panose="02040503050406030204" pitchFamily="18" charset="0"/>
                        </a:rPr>
                        <m:t>+</m:t>
                      </m:r>
                      <m:sSub>
                        <m:sSubPr>
                          <m:ctrlPr>
                            <a:rPr lang="ar-AE" sz="2400" i="1">
                              <a:latin typeface="Cambria Math" panose="02040503050406030204" pitchFamily="18" charset="0"/>
                            </a:rPr>
                          </m:ctrlPr>
                        </m:sSubPr>
                        <m:e>
                          <m:r>
                            <a:rPr lang="ar-AE" sz="2400" b="0" i="1">
                              <a:latin typeface="Cambria Math" panose="02040503050406030204" pitchFamily="18" charset="0"/>
                            </a:rPr>
                            <m:t>𝐴</m:t>
                          </m:r>
                        </m:e>
                        <m:sub>
                          <m:r>
                            <a:rPr lang="ar-AE" sz="2400" b="0" i="1">
                              <a:latin typeface="Cambria Math" panose="02040503050406030204" pitchFamily="18" charset="0"/>
                            </a:rPr>
                            <m:t>1</m:t>
                          </m:r>
                        </m:sub>
                      </m:sSub>
                      <m:r>
                        <a:rPr lang="el-GR" sz="2400" b="0" i="1">
                          <a:latin typeface="Cambria Math" panose="02040503050406030204" pitchFamily="18" charset="0"/>
                        </a:rPr>
                        <m:t>𝛥</m:t>
                      </m:r>
                      <m:sSub>
                        <m:sSubPr>
                          <m:ctrlPr>
                            <a:rPr lang="ar-AE" sz="2400" i="1">
                              <a:latin typeface="Cambria Math" panose="02040503050406030204" pitchFamily="18" charset="0"/>
                            </a:rPr>
                          </m:ctrlPr>
                        </m:sSubPr>
                        <m:e>
                          <m:r>
                            <a:rPr lang="ar-AE" sz="2400" b="0" i="1">
                              <a:latin typeface="Cambria Math" panose="02040503050406030204" pitchFamily="18" charset="0"/>
                            </a:rPr>
                            <m:t>𝑦</m:t>
                          </m:r>
                        </m:e>
                        <m:sub>
                          <m:r>
                            <a:rPr lang="ar-AE" sz="2400" b="0" i="1">
                              <a:latin typeface="Cambria Math" panose="02040503050406030204" pitchFamily="18" charset="0"/>
                            </a:rPr>
                            <m:t>𝑡</m:t>
                          </m:r>
                          <m:r>
                            <a:rPr lang="ar-AE" sz="2400" b="0">
                              <a:latin typeface="Cambria Math" panose="02040503050406030204" pitchFamily="18" charset="0"/>
                            </a:rPr>
                            <m:t>−</m:t>
                          </m:r>
                          <m:r>
                            <a:rPr lang="ar-AE" sz="2400" b="0" i="1">
                              <a:latin typeface="Cambria Math" panose="02040503050406030204" pitchFamily="18" charset="0"/>
                            </a:rPr>
                            <m:t>1</m:t>
                          </m:r>
                        </m:sub>
                      </m:sSub>
                      <m:r>
                        <a:rPr lang="ar-AE" sz="2400" b="0">
                          <a:latin typeface="Cambria Math" panose="02040503050406030204" pitchFamily="18" charset="0"/>
                        </a:rPr>
                        <m:t>+</m:t>
                      </m:r>
                      <m:sSub>
                        <m:sSubPr>
                          <m:ctrlPr>
                            <a:rPr lang="ar-AE" sz="2400" i="1">
                              <a:latin typeface="Cambria Math" panose="02040503050406030204" pitchFamily="18" charset="0"/>
                            </a:rPr>
                          </m:ctrlPr>
                        </m:sSubPr>
                        <m:e>
                          <m:r>
                            <a:rPr lang="ar-AE" sz="2400" b="0" i="1">
                              <a:latin typeface="Cambria Math" panose="02040503050406030204" pitchFamily="18" charset="0"/>
                            </a:rPr>
                            <m:t>𝐴</m:t>
                          </m:r>
                        </m:e>
                        <m:sub>
                          <m:r>
                            <a:rPr lang="ar-AE" sz="2400" b="0" i="1">
                              <a:latin typeface="Cambria Math" panose="02040503050406030204" pitchFamily="18" charset="0"/>
                            </a:rPr>
                            <m:t>2</m:t>
                          </m:r>
                        </m:sub>
                      </m:sSub>
                      <m:r>
                        <a:rPr lang="el-GR" sz="2400" b="0" i="1">
                          <a:latin typeface="Cambria Math" panose="02040503050406030204" pitchFamily="18" charset="0"/>
                        </a:rPr>
                        <m:t>𝛥</m:t>
                      </m:r>
                      <m:sSub>
                        <m:sSubPr>
                          <m:ctrlPr>
                            <a:rPr lang="ar-AE" sz="2400" i="1">
                              <a:latin typeface="Cambria Math" panose="02040503050406030204" pitchFamily="18" charset="0"/>
                            </a:rPr>
                          </m:ctrlPr>
                        </m:sSubPr>
                        <m:e>
                          <m:r>
                            <a:rPr lang="ar-AE" sz="2400" b="0" i="1">
                              <a:latin typeface="Cambria Math" panose="02040503050406030204" pitchFamily="18" charset="0"/>
                            </a:rPr>
                            <m:t>𝑦</m:t>
                          </m:r>
                        </m:e>
                        <m:sub>
                          <m:r>
                            <a:rPr lang="ar-AE" sz="2400" b="0" i="1">
                              <a:latin typeface="Cambria Math" panose="02040503050406030204" pitchFamily="18" charset="0"/>
                            </a:rPr>
                            <m:t>𝑡</m:t>
                          </m:r>
                          <m:r>
                            <a:rPr lang="ar-AE" sz="2400" b="0">
                              <a:latin typeface="Cambria Math" panose="02040503050406030204" pitchFamily="18" charset="0"/>
                            </a:rPr>
                            <m:t>−</m:t>
                          </m:r>
                          <m:r>
                            <a:rPr lang="ar-AE" sz="2400" b="0" i="1">
                              <a:latin typeface="Cambria Math" panose="02040503050406030204" pitchFamily="18" charset="0"/>
                            </a:rPr>
                            <m:t>2</m:t>
                          </m:r>
                        </m:sub>
                      </m:sSub>
                      <m:r>
                        <a:rPr lang="ar-AE" sz="2400" b="0">
                          <a:latin typeface="Cambria Math" panose="02040503050406030204" pitchFamily="18" charset="0"/>
                        </a:rPr>
                        <m:t>+</m:t>
                      </m:r>
                      <m:sSub>
                        <m:sSubPr>
                          <m:ctrlPr>
                            <a:rPr lang="ar-AE" sz="2400" i="1">
                              <a:latin typeface="Cambria Math" panose="02040503050406030204" pitchFamily="18" charset="0"/>
                            </a:rPr>
                          </m:ctrlPr>
                        </m:sSubPr>
                        <m:e>
                          <m:r>
                            <a:rPr lang="ar-AE" sz="2400" b="0" i="1">
                              <a:latin typeface="Cambria Math" panose="02040503050406030204" pitchFamily="18" charset="0"/>
                            </a:rPr>
                            <m:t>𝜀</m:t>
                          </m:r>
                        </m:e>
                        <m:sub>
                          <m:r>
                            <a:rPr lang="ar-AE" sz="2400" b="0" i="1">
                              <a:latin typeface="Cambria Math" panose="02040503050406030204" pitchFamily="18" charset="0"/>
                            </a:rPr>
                            <m:t>𝑡</m:t>
                          </m:r>
                        </m:sub>
                      </m:sSub>
                    </m:oMath>
                  </m:oMathPara>
                </a14:m>
                <a:endParaRPr lang="ar-AE" sz="2400" dirty="0"/>
              </a:p>
              <a:p>
                <a:r>
                  <a:rPr lang="en-US" sz="2400" dirty="0"/>
                  <a:t>Where:</a:t>
                </a:r>
              </a:p>
              <a:p>
                <a14:m>
                  <m:oMath xmlns:m="http://schemas.openxmlformats.org/officeDocument/2006/math">
                    <m:r>
                      <a:rPr lang="el-GR" sz="2400" b="0" i="1">
                        <a:latin typeface="Cambria Math" panose="02040503050406030204" pitchFamily="18" charset="0"/>
                      </a:rPr>
                      <m:t>𝛥</m:t>
                    </m:r>
                    <m:sSub>
                      <m:sSubPr>
                        <m:ctrlPr>
                          <a:rPr lang="ar-AE" sz="2400" i="1">
                            <a:latin typeface="Cambria Math" panose="02040503050406030204" pitchFamily="18" charset="0"/>
                          </a:rPr>
                        </m:ctrlPr>
                      </m:sSubPr>
                      <m:e>
                        <m:r>
                          <a:rPr lang="ar-AE" sz="2400" b="0" i="1">
                            <a:latin typeface="Cambria Math" panose="02040503050406030204" pitchFamily="18" charset="0"/>
                          </a:rPr>
                          <m:t>𝑦</m:t>
                        </m:r>
                      </m:e>
                      <m:sub>
                        <m:r>
                          <a:rPr lang="ar-AE" sz="2400" b="0" i="1">
                            <a:latin typeface="Cambria Math" panose="02040503050406030204" pitchFamily="18" charset="0"/>
                          </a:rPr>
                          <m:t>𝑡</m:t>
                        </m:r>
                      </m:sub>
                    </m:sSub>
                  </m:oMath>
                </a14:m>
                <a:r>
                  <a:rPr lang="ar-AE" sz="2400" dirty="0"/>
                  <a:t>= </a:t>
                </a:r>
                <a:r>
                  <a:rPr lang="en-US" sz="2400" dirty="0"/>
                  <a:t>vector of differenced category space at time t</a:t>
                </a:r>
              </a:p>
              <a:p>
                <a14:m>
                  <m:oMath xmlns:m="http://schemas.openxmlformats.org/officeDocument/2006/math">
                    <m:r>
                      <a:rPr lang="en-US" sz="2400" b="0" i="1">
                        <a:latin typeface="Cambria Math" panose="02040503050406030204" pitchFamily="18" charset="0"/>
                      </a:rPr>
                      <m:t>𝑐</m:t>
                    </m:r>
                  </m:oMath>
                </a14:m>
                <a:r>
                  <a:rPr lang="en-US" sz="2400" dirty="0"/>
                  <a:t>= vector of intercept constants</a:t>
                </a:r>
              </a:p>
              <a:p>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𝐴</m:t>
                        </m:r>
                      </m:e>
                      <m:sub>
                        <m:r>
                          <a:rPr lang="ar-AE" sz="2400" b="0" i="1">
                            <a:latin typeface="Cambria Math" panose="02040503050406030204" pitchFamily="18" charset="0"/>
                          </a:rPr>
                          <m:t>1</m:t>
                        </m:r>
                      </m:sub>
                    </m:sSub>
                  </m:oMath>
                </a14:m>
                <a:r>
                  <a:rPr lang="ar-AE" sz="2400" dirty="0"/>
                  <a:t>= </a:t>
                </a:r>
                <a:r>
                  <a:rPr lang="en-US" sz="2400" dirty="0"/>
                  <a:t>coefficient matrix for lag 1</a:t>
                </a:r>
              </a:p>
              <a:p>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𝐴</m:t>
                        </m:r>
                      </m:e>
                      <m:sub>
                        <m:r>
                          <a:rPr lang="ar-AE" sz="2400" b="0" i="1">
                            <a:latin typeface="Cambria Math" panose="02040503050406030204" pitchFamily="18" charset="0"/>
                          </a:rPr>
                          <m:t>2</m:t>
                        </m:r>
                      </m:sub>
                    </m:sSub>
                  </m:oMath>
                </a14:m>
                <a:r>
                  <a:rPr lang="ar-AE" sz="2400" dirty="0"/>
                  <a:t>= </a:t>
                </a:r>
                <a:r>
                  <a:rPr lang="en-US" sz="2400" dirty="0"/>
                  <a:t>coefficient matrix for lag 2</a:t>
                </a:r>
              </a:p>
              <a:p>
                <a14:m>
                  <m:oMath xmlns:m="http://schemas.openxmlformats.org/officeDocument/2006/math">
                    <m:sSub>
                      <m:sSubPr>
                        <m:ctrlPr>
                          <a:rPr lang="ar-AE" sz="2400" i="1">
                            <a:latin typeface="Cambria Math" panose="02040503050406030204" pitchFamily="18" charset="0"/>
                          </a:rPr>
                        </m:ctrlPr>
                      </m:sSubPr>
                      <m:e>
                        <m:r>
                          <a:rPr lang="ar-AE" sz="2400" b="0" i="1">
                            <a:latin typeface="Cambria Math" panose="02040503050406030204" pitchFamily="18" charset="0"/>
                          </a:rPr>
                          <m:t>𝜀</m:t>
                        </m:r>
                      </m:e>
                      <m:sub>
                        <m:r>
                          <a:rPr lang="ar-AE" sz="2400" b="0" i="1">
                            <a:latin typeface="Cambria Math" panose="02040503050406030204" pitchFamily="18" charset="0"/>
                          </a:rPr>
                          <m:t>𝑡</m:t>
                        </m:r>
                      </m:sub>
                    </m:sSub>
                  </m:oMath>
                </a14:m>
                <a:r>
                  <a:rPr lang="ar-AE" sz="2400" dirty="0"/>
                  <a:t>= </a:t>
                </a:r>
                <a:r>
                  <a:rPr lang="en-US" sz="2400" dirty="0"/>
                  <a:t>vector of multivariate white-noise errors</a:t>
                </a:r>
              </a:p>
              <a:p>
                <a:endParaRPr lang="en-US" dirty="0"/>
              </a:p>
            </p:txBody>
          </p:sp>
        </mc:Choice>
        <mc:Fallback xmlns="">
          <p:sp>
            <p:nvSpPr>
              <p:cNvPr id="3" name="TextBox 2">
                <a:extLst>
                  <a:ext uri="{FF2B5EF4-FFF2-40B4-BE49-F238E27FC236}">
                    <a16:creationId xmlns:a16="http://schemas.microsoft.com/office/drawing/2014/main" id="{C0AE6631-193D-D671-F2A1-683C1E3A87ED}"/>
                  </a:ext>
                </a:extLst>
              </p:cNvPr>
              <p:cNvSpPr txBox="1">
                <a:spLocks noRot="1" noChangeAspect="1" noMove="1" noResize="1" noEditPoints="1" noAdjustHandles="1" noChangeArrowheads="1" noChangeShapeType="1" noTextEdit="1"/>
              </p:cNvSpPr>
              <p:nvPr/>
            </p:nvSpPr>
            <p:spPr>
              <a:xfrm>
                <a:off x="646111" y="1853248"/>
                <a:ext cx="9262164" cy="4062651"/>
              </a:xfrm>
              <a:prstGeom prst="rect">
                <a:avLst/>
              </a:prstGeom>
              <a:blipFill>
                <a:blip r:embed="rId3"/>
                <a:stretch>
                  <a:fillRect l="-1053" t="-1201"/>
                </a:stretch>
              </a:blipFill>
            </p:spPr>
            <p:txBody>
              <a:bodyPr/>
              <a:lstStyle/>
              <a:p>
                <a:r>
                  <a:rPr lang="en-US">
                    <a:noFill/>
                  </a:rPr>
                  <a:t> </a:t>
                </a:r>
              </a:p>
            </p:txBody>
          </p:sp>
        </mc:Fallback>
      </mc:AlternateContent>
    </p:spTree>
    <p:extLst>
      <p:ext uri="{BB962C8B-B14F-4D97-AF65-F5344CB8AC3E}">
        <p14:creationId xmlns:p14="http://schemas.microsoft.com/office/powerpoint/2010/main" val="3590766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A6657-FCF7-6244-A106-8704297DA66A}"/>
              </a:ext>
            </a:extLst>
          </p:cNvPr>
          <p:cNvSpPr>
            <a:spLocks noGrp="1"/>
          </p:cNvSpPr>
          <p:nvPr>
            <p:ph type="title"/>
          </p:nvPr>
        </p:nvSpPr>
        <p:spPr/>
        <p:txBody>
          <a:bodyPr/>
          <a:lstStyle/>
          <a:p>
            <a:r>
              <a:rPr lang="en-US" dirty="0"/>
              <a:t>VAR Model Forecast</a:t>
            </a:r>
          </a:p>
        </p:txBody>
      </p:sp>
      <p:pic>
        <p:nvPicPr>
          <p:cNvPr id="7" name="Picture 6">
            <a:extLst>
              <a:ext uri="{FF2B5EF4-FFF2-40B4-BE49-F238E27FC236}">
                <a16:creationId xmlns:a16="http://schemas.microsoft.com/office/drawing/2014/main" id="{A53F1055-E2D2-4CCE-BCF3-F760A063AB20}"/>
              </a:ext>
            </a:extLst>
          </p:cNvPr>
          <p:cNvPicPr>
            <a:picLocks noChangeAspect="1"/>
          </p:cNvPicPr>
          <p:nvPr/>
        </p:nvPicPr>
        <p:blipFill>
          <a:blip r:embed="rId3"/>
          <a:stretch>
            <a:fillRect/>
          </a:stretch>
        </p:blipFill>
        <p:spPr>
          <a:xfrm>
            <a:off x="1700654" y="1152983"/>
            <a:ext cx="8790691" cy="5425112"/>
          </a:xfrm>
          <a:prstGeom prst="rect">
            <a:avLst/>
          </a:prstGeom>
        </p:spPr>
      </p:pic>
    </p:spTree>
    <p:extLst>
      <p:ext uri="{BB962C8B-B14F-4D97-AF65-F5344CB8AC3E}">
        <p14:creationId xmlns:p14="http://schemas.microsoft.com/office/powerpoint/2010/main" val="3803484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DE1EE-24C4-308A-AC39-6F9761BDA191}"/>
              </a:ext>
            </a:extLst>
          </p:cNvPr>
          <p:cNvSpPr>
            <a:spLocks noGrp="1"/>
          </p:cNvSpPr>
          <p:nvPr>
            <p:ph type="title"/>
          </p:nvPr>
        </p:nvSpPr>
        <p:spPr/>
        <p:txBody>
          <a:bodyPr/>
          <a:lstStyle/>
          <a:p>
            <a:r>
              <a:rPr lang="en-US" dirty="0"/>
              <a:t>LSTM vs ARIMA</a:t>
            </a:r>
          </a:p>
        </p:txBody>
      </p:sp>
      <p:graphicFrame>
        <p:nvGraphicFramePr>
          <p:cNvPr id="4" name="Content Placeholder 3">
            <a:extLst>
              <a:ext uri="{FF2B5EF4-FFF2-40B4-BE49-F238E27FC236}">
                <a16:creationId xmlns:a16="http://schemas.microsoft.com/office/drawing/2014/main" id="{76A5F36C-A402-538E-1D6F-7B7B4CD08D93}"/>
              </a:ext>
            </a:extLst>
          </p:cNvPr>
          <p:cNvGraphicFramePr>
            <a:graphicFrameLocks noGrp="1"/>
          </p:cNvGraphicFramePr>
          <p:nvPr>
            <p:ph idx="1"/>
            <p:extLst>
              <p:ext uri="{D42A27DB-BD31-4B8C-83A1-F6EECF244321}">
                <p14:modId xmlns:p14="http://schemas.microsoft.com/office/powerpoint/2010/main" val="1520550231"/>
              </p:ext>
            </p:extLst>
          </p:nvPr>
        </p:nvGraphicFramePr>
        <p:xfrm>
          <a:off x="760504" y="2329180"/>
          <a:ext cx="10670992" cy="2473960"/>
        </p:xfrm>
        <a:graphic>
          <a:graphicData uri="http://schemas.openxmlformats.org/drawingml/2006/table">
            <a:tbl>
              <a:tblPr firstRow="1" bandRow="1">
                <a:tableStyleId>{5C22544A-7EE6-4342-B048-85BDC9FD1C3A}</a:tableStyleId>
              </a:tblPr>
              <a:tblGrid>
                <a:gridCol w="1281449">
                  <a:extLst>
                    <a:ext uri="{9D8B030D-6E8A-4147-A177-3AD203B41FA5}">
                      <a16:colId xmlns:a16="http://schemas.microsoft.com/office/drawing/2014/main" val="1478951828"/>
                    </a:ext>
                  </a:extLst>
                </a:gridCol>
                <a:gridCol w="6241220">
                  <a:extLst>
                    <a:ext uri="{9D8B030D-6E8A-4147-A177-3AD203B41FA5}">
                      <a16:colId xmlns:a16="http://schemas.microsoft.com/office/drawing/2014/main" val="378958271"/>
                    </a:ext>
                  </a:extLst>
                </a:gridCol>
                <a:gridCol w="3148323">
                  <a:extLst>
                    <a:ext uri="{9D8B030D-6E8A-4147-A177-3AD203B41FA5}">
                      <a16:colId xmlns:a16="http://schemas.microsoft.com/office/drawing/2014/main" val="1735483101"/>
                    </a:ext>
                  </a:extLst>
                </a:gridCol>
              </a:tblGrid>
              <a:tr h="370840">
                <a:tc>
                  <a:txBody>
                    <a:bodyPr/>
                    <a:lstStyle/>
                    <a:p>
                      <a:r>
                        <a:rPr lang="en-US" dirty="0"/>
                        <a:t>Model</a:t>
                      </a:r>
                    </a:p>
                  </a:txBody>
                  <a:tcPr/>
                </a:tc>
                <a:tc>
                  <a:txBody>
                    <a:bodyPr/>
                    <a:lstStyle/>
                    <a:p>
                      <a:r>
                        <a:rPr lang="en-US" dirty="0"/>
                        <a:t>Performance</a:t>
                      </a:r>
                    </a:p>
                  </a:txBody>
                  <a:tcPr/>
                </a:tc>
                <a:tc>
                  <a:txBody>
                    <a:bodyPr/>
                    <a:lstStyle/>
                    <a:p>
                      <a:r>
                        <a:rPr lang="en-US" dirty="0"/>
                        <a:t>Results</a:t>
                      </a:r>
                    </a:p>
                  </a:txBody>
                  <a:tcPr/>
                </a:tc>
                <a:extLst>
                  <a:ext uri="{0D108BD9-81ED-4DB2-BD59-A6C34878D82A}">
                    <a16:rowId xmlns:a16="http://schemas.microsoft.com/office/drawing/2014/main" val="2588073597"/>
                  </a:ext>
                </a:extLst>
              </a:tr>
              <a:tr h="370840">
                <a:tc>
                  <a:txBody>
                    <a:bodyPr/>
                    <a:lstStyle/>
                    <a:p>
                      <a:r>
                        <a:rPr lang="en-US" dirty="0"/>
                        <a:t>ARIMA (SARIMA)</a:t>
                      </a:r>
                    </a:p>
                  </a:txBody>
                  <a:tcPr/>
                </a:tc>
                <a:tc>
                  <a:txBody>
                    <a:bodyPr/>
                    <a:lstStyle/>
                    <a:p>
                      <a:r>
                        <a:rPr lang="en-US" dirty="0"/>
                        <a:t>Excellent at capturing weekly seasonality and short-term dynamics.</a:t>
                      </a:r>
                    </a:p>
                    <a:p>
                      <a:r>
                        <a:rPr lang="en-US" dirty="0"/>
                        <a:t>RMSE ≈ 0.62 m³/day</a:t>
                      </a:r>
                    </a:p>
                    <a:p>
                      <a:endParaRPr lang="en-US" dirty="0"/>
                    </a:p>
                  </a:txBody>
                  <a:tcPr/>
                </a:tc>
                <a:tc>
                  <a:txBody>
                    <a:bodyPr/>
                    <a:lstStyle/>
                    <a:p>
                      <a:r>
                        <a:rPr lang="en-US" dirty="0"/>
                        <a:t>Best-performing model</a:t>
                      </a:r>
                    </a:p>
                  </a:txBody>
                  <a:tcPr/>
                </a:tc>
                <a:extLst>
                  <a:ext uri="{0D108BD9-81ED-4DB2-BD59-A6C34878D82A}">
                    <a16:rowId xmlns:a16="http://schemas.microsoft.com/office/drawing/2014/main" val="389201955"/>
                  </a:ext>
                </a:extLst>
              </a:tr>
              <a:tr h="370840">
                <a:tc>
                  <a:txBody>
                    <a:bodyPr/>
                    <a:lstStyle/>
                    <a:p>
                      <a:r>
                        <a:rPr lang="en-US" dirty="0"/>
                        <a:t>LSTM</a:t>
                      </a:r>
                    </a:p>
                  </a:txBody>
                  <a:tcPr/>
                </a:tc>
                <a:tc>
                  <a:txBody>
                    <a:bodyPr/>
                    <a:lstStyle/>
                    <a:p>
                      <a:r>
                        <a:rPr lang="en-US" dirty="0"/>
                        <a:t>Learns nonlinear patterns, robust to noise</a:t>
                      </a:r>
                    </a:p>
                    <a:p>
                      <a:r>
                        <a:rPr lang="en-US" dirty="0"/>
                        <a:t>RMSE typically 0.75–0.95 m³/day</a:t>
                      </a:r>
                    </a:p>
                  </a:txBody>
                  <a:tcPr/>
                </a:tc>
                <a:tc>
                  <a:txBody>
                    <a:bodyPr/>
                    <a:lstStyle/>
                    <a:p>
                      <a:r>
                        <a:rPr lang="en-US" dirty="0"/>
                        <a:t>Underperforms compared to ARIMA due to limited historical data.</a:t>
                      </a:r>
                    </a:p>
                  </a:txBody>
                  <a:tcPr/>
                </a:tc>
                <a:extLst>
                  <a:ext uri="{0D108BD9-81ED-4DB2-BD59-A6C34878D82A}">
                    <a16:rowId xmlns:a16="http://schemas.microsoft.com/office/drawing/2014/main" val="1274139008"/>
                  </a:ext>
                </a:extLst>
              </a:tr>
            </a:tbl>
          </a:graphicData>
        </a:graphic>
      </p:graphicFrame>
    </p:spTree>
    <p:extLst>
      <p:ext uri="{BB962C8B-B14F-4D97-AF65-F5344CB8AC3E}">
        <p14:creationId xmlns:p14="http://schemas.microsoft.com/office/powerpoint/2010/main" val="2733814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C4992-0A0F-D9F4-167F-227558999443}"/>
              </a:ext>
            </a:extLst>
          </p:cNvPr>
          <p:cNvSpPr>
            <a:spLocks noGrp="1"/>
          </p:cNvSpPr>
          <p:nvPr>
            <p:ph type="title"/>
          </p:nvPr>
        </p:nvSpPr>
        <p:spPr/>
        <p:txBody>
          <a:bodyPr/>
          <a:lstStyle/>
          <a:p>
            <a:r>
              <a:rPr lang="en-US" dirty="0"/>
              <a:t>OPERATIONAL &amp; BUSINESS</a:t>
            </a:r>
          </a:p>
        </p:txBody>
      </p:sp>
      <p:sp>
        <p:nvSpPr>
          <p:cNvPr id="3" name="Content Placeholder 2">
            <a:extLst>
              <a:ext uri="{FF2B5EF4-FFF2-40B4-BE49-F238E27FC236}">
                <a16:creationId xmlns:a16="http://schemas.microsoft.com/office/drawing/2014/main" id="{8EB3DE32-E192-A3DB-776D-4F82CC03D729}"/>
              </a:ext>
            </a:extLst>
          </p:cNvPr>
          <p:cNvSpPr>
            <a:spLocks noGrp="1"/>
          </p:cNvSpPr>
          <p:nvPr>
            <p:ph idx="1"/>
          </p:nvPr>
        </p:nvSpPr>
        <p:spPr/>
        <p:txBody>
          <a:bodyPr/>
          <a:lstStyle/>
          <a:p>
            <a:r>
              <a:rPr lang="en-US" dirty="0"/>
              <a:t>The warehouse should expect </a:t>
            </a:r>
            <a:r>
              <a:rPr lang="en-US" b="1" dirty="0"/>
              <a:t>regular weekly fluctuations</a:t>
            </a:r>
            <a:r>
              <a:rPr lang="en-US" dirty="0"/>
              <a:t> in space usage. </a:t>
            </a:r>
            <a:r>
              <a:rPr lang="en-US" b="1" dirty="0"/>
              <a:t>Smartphones</a:t>
            </a:r>
            <a:r>
              <a:rPr lang="en-US" dirty="0"/>
              <a:t> are the single most important category for peak capacity planning.</a:t>
            </a:r>
          </a:p>
          <a:p>
            <a:r>
              <a:rPr lang="en-US" dirty="0"/>
              <a:t>Forecasts help identify </a:t>
            </a:r>
            <a:r>
              <a:rPr lang="en-US" b="1" dirty="0"/>
              <a:t>high-demand periods</a:t>
            </a:r>
            <a:r>
              <a:rPr lang="en-US" dirty="0"/>
              <a:t> early, allowing better resource allocation.</a:t>
            </a:r>
          </a:p>
          <a:p>
            <a:r>
              <a:rPr lang="en-US" dirty="0"/>
              <a:t>Category-level forecasts allow teams to plan </a:t>
            </a:r>
            <a:r>
              <a:rPr lang="en-US" b="1" dirty="0"/>
              <a:t>which zones</a:t>
            </a:r>
            <a:r>
              <a:rPr lang="en-US" dirty="0"/>
              <a:t> will need the most space in upcoming weeks.</a:t>
            </a:r>
          </a:p>
          <a:p>
            <a:pPr marL="0" indent="0">
              <a:buNone/>
            </a:pPr>
            <a:endParaRPr lang="en-US" dirty="0"/>
          </a:p>
        </p:txBody>
      </p:sp>
    </p:spTree>
    <p:extLst>
      <p:ext uri="{BB962C8B-B14F-4D97-AF65-F5344CB8AC3E}">
        <p14:creationId xmlns:p14="http://schemas.microsoft.com/office/powerpoint/2010/main" val="4058121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69A21-E046-C48B-038C-061A4EC10FBD}"/>
              </a:ext>
            </a:extLst>
          </p:cNvPr>
          <p:cNvSpPr>
            <a:spLocks noGrp="1"/>
          </p:cNvSpPr>
          <p:nvPr>
            <p:ph type="title"/>
          </p:nvPr>
        </p:nvSpPr>
        <p:spPr/>
        <p:txBody>
          <a:bodyPr/>
          <a:lstStyle/>
          <a:p>
            <a:r>
              <a:rPr lang="en-US" dirty="0"/>
              <a:t>Future</a:t>
            </a:r>
            <a:r>
              <a:rPr lang="en-US" baseline="0" dirty="0"/>
              <a:t> Improvements</a:t>
            </a:r>
            <a:endParaRPr lang="en-US" dirty="0"/>
          </a:p>
        </p:txBody>
      </p:sp>
      <p:sp>
        <p:nvSpPr>
          <p:cNvPr id="3" name="Content Placeholder 2">
            <a:extLst>
              <a:ext uri="{FF2B5EF4-FFF2-40B4-BE49-F238E27FC236}">
                <a16:creationId xmlns:a16="http://schemas.microsoft.com/office/drawing/2014/main" id="{30243462-FDF5-A30B-1FBF-AFC804D66634}"/>
              </a:ext>
            </a:extLst>
          </p:cNvPr>
          <p:cNvSpPr>
            <a:spLocks noGrp="1"/>
          </p:cNvSpPr>
          <p:nvPr>
            <p:ph idx="1"/>
          </p:nvPr>
        </p:nvSpPr>
        <p:spPr/>
        <p:txBody>
          <a:bodyPr/>
          <a:lstStyle/>
          <a:p>
            <a:r>
              <a:rPr lang="en-US" dirty="0"/>
              <a:t>Expand the Dataset (More Historical Data)</a:t>
            </a:r>
          </a:p>
          <a:p>
            <a:pPr rtl="0" eaLnBrk="1" latinLnBrk="0" hangingPunct="1"/>
            <a:r>
              <a:rPr lang="en-US" sz="2000" b="0" i="0" kern="1200" dirty="0">
                <a:solidFill>
                  <a:schemeClr val="tx1"/>
                </a:solidFill>
                <a:effectLst/>
                <a:latin typeface="+mj-lt"/>
                <a:ea typeface="+mj-ea"/>
                <a:cs typeface="+mj-cs"/>
              </a:rPr>
              <a:t>Add Key External Predictors (ARIMAX or ML Models)</a:t>
            </a:r>
            <a:endParaRPr lang="en-US" sz="2000" dirty="0">
              <a:effectLst/>
            </a:endParaRPr>
          </a:p>
          <a:p>
            <a:pPr rtl="0" eaLnBrk="1" latinLnBrk="0" hangingPunct="1"/>
            <a:r>
              <a:rPr lang="en-US" sz="2000" b="0" i="0" kern="1200" dirty="0">
                <a:solidFill>
                  <a:schemeClr val="tx1"/>
                </a:solidFill>
                <a:effectLst/>
                <a:latin typeface="+mj-lt"/>
                <a:ea typeface="+mj-ea"/>
                <a:cs typeface="+mj-cs"/>
              </a:rPr>
              <a:t>Integrate Machine Learning Models</a:t>
            </a:r>
            <a:endParaRPr lang="en-US" dirty="0"/>
          </a:p>
          <a:p>
            <a:endParaRPr lang="en-US" dirty="0"/>
          </a:p>
        </p:txBody>
      </p:sp>
      <p:sp>
        <p:nvSpPr>
          <p:cNvPr id="4" name="AutoShape 2">
            <a:extLst>
              <a:ext uri="{FF2B5EF4-FFF2-40B4-BE49-F238E27FC236}">
                <a16:creationId xmlns:a16="http://schemas.microsoft.com/office/drawing/2014/main" id="{E6CB378B-A4C4-726E-6037-1D5F15EAA6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73411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5" name="Picture 14" descr="abstract design">
            <a:extLst>
              <a:ext uri="{FF2B5EF4-FFF2-40B4-BE49-F238E27FC236}">
                <a16:creationId xmlns:a16="http://schemas.microsoft.com/office/drawing/2014/main" id="{6D363037-1741-4470-A023-883E2FFD5840}"/>
              </a:ext>
            </a:extLst>
          </p:cNvPr>
          <p:cNvPicPr>
            <a:picLocks noChangeAspect="1"/>
          </p:cNvPicPr>
          <p:nvPr/>
        </p:nvPicPr>
        <p:blipFill rotWithShape="1">
          <a:blip r:embed="rId4">
            <a:duotone>
              <a:prstClr val="black"/>
              <a:schemeClr val="accent5">
                <a:tint val="45000"/>
                <a:satMod val="400000"/>
              </a:schemeClr>
            </a:duotone>
            <a:alphaModFix amt="25000"/>
          </a:blip>
          <a:srcRect t="18308" r="6818" b="2872"/>
          <a:stretch/>
        </p:blipFill>
        <p:spPr>
          <a:xfrm flipH="1">
            <a:off x="0" y="10"/>
            <a:ext cx="12191980" cy="6857990"/>
          </a:xfrm>
          <a:prstGeom prst="rect">
            <a:avLst/>
          </a:prstGeom>
        </p:spPr>
      </p:pic>
      <p:sp>
        <p:nvSpPr>
          <p:cNvPr id="12" name="Title 11">
            <a:extLst>
              <a:ext uri="{FF2B5EF4-FFF2-40B4-BE49-F238E27FC236}">
                <a16:creationId xmlns:a16="http://schemas.microsoft.com/office/drawing/2014/main" id="{970C361B-D32E-42E0-A41E-86C3D9AC886F}"/>
              </a:ext>
            </a:extLst>
          </p:cNvPr>
          <p:cNvSpPr>
            <a:spLocks noGrp="1"/>
          </p:cNvSpPr>
          <p:nvPr>
            <p:ph type="ctrTitle"/>
          </p:nvPr>
        </p:nvSpPr>
        <p:spPr>
          <a:xfrm>
            <a:off x="1154955" y="1447800"/>
            <a:ext cx="8825658" cy="3329581"/>
          </a:xfrm>
        </p:spPr>
        <p:txBody>
          <a:bodyPr>
            <a:normAutofit/>
          </a:bodyPr>
          <a:lstStyle/>
          <a:p>
            <a:r>
              <a:rPr lang="en-US" dirty="0"/>
              <a:t>Thank You!</a:t>
            </a:r>
            <a:endParaRPr lang="ru-RU" dirty="0"/>
          </a:p>
        </p:txBody>
      </p:sp>
      <p:sp>
        <p:nvSpPr>
          <p:cNvPr id="57" name="Rectangle 56">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107679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M78884036_DIGITAL ION DESIGN_SL_V1.pptx" id="{AD58A1CE-E9E9-4C2E-83A0-65FD4522F93A}" vid="{1E9553B9-AA04-4A15-9836-1E06682578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CC30393A-FEC6-4A44-9E4A-6EA49F1F7D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16958A-754B-4396-9457-FD7A427A37DD}">
  <ds:schemaRefs>
    <ds:schemaRef ds:uri="http://schemas.microsoft.com/sharepoint/v3/contenttype/forms"/>
  </ds:schemaRefs>
</ds:datastoreItem>
</file>

<file path=customXml/itemProps3.xml><?xml version="1.0" encoding="utf-8"?>
<ds:datastoreItem xmlns:ds="http://schemas.openxmlformats.org/officeDocument/2006/customXml" ds:itemID="{048C88F1-1664-415F-AFCE-F6CF45809817}">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Office Theme</Template>
  <TotalTime>2894</TotalTime>
  <Words>3087</Words>
  <Application>Microsoft Office PowerPoint</Application>
  <PresentationFormat>Widescreen</PresentationFormat>
  <Paragraphs>384</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 Math</vt:lpstr>
      <vt:lpstr>Century Gothic</vt:lpstr>
      <vt:lpstr>Wingdings 3</vt:lpstr>
      <vt:lpstr>Ion</vt:lpstr>
      <vt:lpstr>Intelligent Inventory</vt:lpstr>
      <vt:lpstr>Project Background</vt:lpstr>
      <vt:lpstr>Why Forecasting Is Important</vt:lpstr>
      <vt:lpstr>Key variables</vt:lpstr>
      <vt:lpstr>MODEL &amp; METHODOLOGY</vt:lpstr>
      <vt:lpstr>RESULTS &amp; INTERPRETATION</vt:lpstr>
      <vt:lpstr>Stock vs. Space Correlation</vt:lpstr>
      <vt:lpstr>Total Space – Non-Stationarity</vt:lpstr>
      <vt:lpstr>Augmented Dickey–Fuller (ADF) test</vt:lpstr>
      <vt:lpstr>Total Space with difference</vt:lpstr>
      <vt:lpstr>SARIMA Model</vt:lpstr>
      <vt:lpstr>SARIMA Model Forecast</vt:lpstr>
      <vt:lpstr>VAR Model</vt:lpstr>
      <vt:lpstr>VAR Model Forecast</vt:lpstr>
      <vt:lpstr>LSTM vs ARIMA</vt:lpstr>
      <vt:lpstr>OPERATIONAL &amp; BUSINESS</vt:lpstr>
      <vt:lpstr>Future Improvements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Edwin Quijano</dc:creator>
  <cp:lastModifiedBy>Edwin Quijano</cp:lastModifiedBy>
  <cp:revision>1</cp:revision>
  <dcterms:created xsi:type="dcterms:W3CDTF">2025-12-02T19:40:51Z</dcterms:created>
  <dcterms:modified xsi:type="dcterms:W3CDTF">2025-12-11T01:37:35Z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