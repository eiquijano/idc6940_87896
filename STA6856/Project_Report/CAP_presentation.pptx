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70" r:id="rId6"/>
    <p:sldId id="273" r:id="rId7"/>
    <p:sldId id="274" r:id="rId8"/>
    <p:sldId id="281" r:id="rId9"/>
    <p:sldId id="275" r:id="rId10"/>
    <p:sldId id="276" r:id="rId11"/>
    <p:sldId id="286" r:id="rId12"/>
    <p:sldId id="287" r:id="rId13"/>
    <p:sldId id="292" r:id="rId14"/>
    <p:sldId id="291" r:id="rId15"/>
    <p:sldId id="285" r:id="rId16"/>
    <p:sldId id="288" r:id="rId17"/>
    <p:sldId id="284" r:id="rId18"/>
    <p:sldId id="289" r:id="rId19"/>
    <p:sldId id="293" r:id="rId20"/>
    <p:sldId id="277" r:id="rId21"/>
    <p:sldId id="280" r:id="rId22"/>
    <p:sldId id="26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AFC80-B04F-44BE-840D-F85B15E85696}" v="3" dt="2025-12-09T22:18:48.4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0" autoAdjust="0"/>
    <p:restoredTop sz="56000" autoAdjust="0"/>
  </p:normalViewPr>
  <p:slideViewPr>
    <p:cSldViewPr snapToGrid="0">
      <p:cViewPr varScale="1">
        <p:scale>
          <a:sx n="72" d="100"/>
          <a:sy n="72" d="100"/>
        </p:scale>
        <p:origin x="696" y="29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in Quijano" userId="c2699e8b2c00c081" providerId="LiveId" clId="{8CDF0835-D350-43E8-B73A-FDD913FB5576}"/>
    <pc:docChg chg="modSld">
      <pc:chgData name="Edwin Quijano" userId="c2699e8b2c00c081" providerId="LiveId" clId="{8CDF0835-D350-43E8-B73A-FDD913FB5576}" dt="2025-12-09T22:21:27.947" v="11" actId="6549"/>
      <pc:docMkLst>
        <pc:docMk/>
      </pc:docMkLst>
      <pc:sldChg chg="modNotesTx">
        <pc:chgData name="Edwin Quijano" userId="c2699e8b2c00c081" providerId="LiveId" clId="{8CDF0835-D350-43E8-B73A-FDD913FB5576}" dt="2025-12-09T22:20:31.294" v="1" actId="6549"/>
        <pc:sldMkLst>
          <pc:docMk/>
          <pc:sldMk cId="1771003580" sldId="275"/>
        </pc:sldMkLst>
      </pc:sldChg>
      <pc:sldChg chg="modNotesTx">
        <pc:chgData name="Edwin Quijano" userId="c2699e8b2c00c081" providerId="LiveId" clId="{8CDF0835-D350-43E8-B73A-FDD913FB5576}" dt="2025-12-09T22:20:34.286" v="2" actId="6549"/>
        <pc:sldMkLst>
          <pc:docMk/>
          <pc:sldMk cId="1009042720" sldId="276"/>
        </pc:sldMkLst>
      </pc:sldChg>
      <pc:sldChg chg="modNotesTx">
        <pc:chgData name="Edwin Quijano" userId="c2699e8b2c00c081" providerId="LiveId" clId="{8CDF0835-D350-43E8-B73A-FDD913FB5576}" dt="2025-12-09T22:21:27.947" v="11" actId="6549"/>
        <pc:sldMkLst>
          <pc:docMk/>
          <pc:sldMk cId="3473411963" sldId="280"/>
        </pc:sldMkLst>
      </pc:sldChg>
      <pc:sldChg chg="modNotesTx">
        <pc:chgData name="Edwin Quijano" userId="c2699e8b2c00c081" providerId="LiveId" clId="{8CDF0835-D350-43E8-B73A-FDD913FB5576}" dt="2025-12-09T22:20:27.288" v="0" actId="6549"/>
        <pc:sldMkLst>
          <pc:docMk/>
          <pc:sldMk cId="2723672065" sldId="281"/>
        </pc:sldMkLst>
      </pc:sldChg>
      <pc:sldChg chg="modNotesTx">
        <pc:chgData name="Edwin Quijano" userId="c2699e8b2c00c081" providerId="LiveId" clId="{8CDF0835-D350-43E8-B73A-FDD913FB5576}" dt="2025-12-09T22:21:16.029" v="8" actId="6549"/>
        <pc:sldMkLst>
          <pc:docMk/>
          <pc:sldMk cId="3590766512" sldId="284"/>
        </pc:sldMkLst>
      </pc:sldChg>
      <pc:sldChg chg="modNotesTx">
        <pc:chgData name="Edwin Quijano" userId="c2699e8b2c00c081" providerId="LiveId" clId="{8CDF0835-D350-43E8-B73A-FDD913FB5576}" dt="2025-12-09T22:20:53.195" v="6" actId="6549"/>
        <pc:sldMkLst>
          <pc:docMk/>
          <pc:sldMk cId="3496178421" sldId="285"/>
        </pc:sldMkLst>
      </pc:sldChg>
      <pc:sldChg chg="modNotesTx">
        <pc:chgData name="Edwin Quijano" userId="c2699e8b2c00c081" providerId="LiveId" clId="{8CDF0835-D350-43E8-B73A-FDD913FB5576}" dt="2025-12-09T22:20:37.593" v="3" actId="6549"/>
        <pc:sldMkLst>
          <pc:docMk/>
          <pc:sldMk cId="2535301797" sldId="286"/>
        </pc:sldMkLst>
      </pc:sldChg>
      <pc:sldChg chg="modNotesTx">
        <pc:chgData name="Edwin Quijano" userId="c2699e8b2c00c081" providerId="LiveId" clId="{8CDF0835-D350-43E8-B73A-FDD913FB5576}" dt="2025-12-09T22:20:40.377" v="4" actId="6549"/>
        <pc:sldMkLst>
          <pc:docMk/>
          <pc:sldMk cId="2259075427" sldId="287"/>
        </pc:sldMkLst>
      </pc:sldChg>
      <pc:sldChg chg="modNotesTx">
        <pc:chgData name="Edwin Quijano" userId="c2699e8b2c00c081" providerId="LiveId" clId="{8CDF0835-D350-43E8-B73A-FDD913FB5576}" dt="2025-12-09T22:20:57.618" v="7" actId="6549"/>
        <pc:sldMkLst>
          <pc:docMk/>
          <pc:sldMk cId="337648642" sldId="288"/>
        </pc:sldMkLst>
      </pc:sldChg>
      <pc:sldChg chg="modNotesTx">
        <pc:chgData name="Edwin Quijano" userId="c2699e8b2c00c081" providerId="LiveId" clId="{8CDF0835-D350-43E8-B73A-FDD913FB5576}" dt="2025-12-09T22:21:19.031" v="9" actId="6549"/>
        <pc:sldMkLst>
          <pc:docMk/>
          <pc:sldMk cId="3803484959" sldId="289"/>
        </pc:sldMkLst>
      </pc:sldChg>
      <pc:sldChg chg="modNotesTx">
        <pc:chgData name="Edwin Quijano" userId="c2699e8b2c00c081" providerId="LiveId" clId="{8CDF0835-D350-43E8-B73A-FDD913FB5576}" dt="2025-12-09T22:20:45.618" v="5" actId="6549"/>
        <pc:sldMkLst>
          <pc:docMk/>
          <pc:sldMk cId="789670431" sldId="291"/>
        </pc:sldMkLst>
      </pc:sldChg>
      <pc:sldChg chg="modNotesTx">
        <pc:chgData name="Edwin Quijano" userId="c2699e8b2c00c081" providerId="LiveId" clId="{8CDF0835-D350-43E8-B73A-FDD913FB5576}" dt="2025-12-09T22:21:21.784" v="10" actId="6549"/>
        <pc:sldMkLst>
          <pc:docMk/>
          <pc:sldMk cId="2733814936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03FB87-790C-4850-A90C-12C5FF4B94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27921-F9C4-44F3-AC5F-130B6A406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59275-AFE1-4999-B78A-D0D76B9F2B0B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E047-F1CB-4066-A459-9EDC95F2E6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7EF5-5277-4BAF-8BB4-2E02103988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68C69-0C3E-40A2-B4A0-B2C8B71D8E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86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ADD7A-FE61-48EE-BE0E-8546E5401374}" type="datetimeFigureOut">
              <a:rPr lang="en-US" smtClean="0"/>
              <a:t>12/9/2025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00EEB-8338-48D7-8EE8-EE0082EF76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77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917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644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43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44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589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43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968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2877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647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694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This model was selected because it minimized AIC and passed all residual diagnostics.</a:t>
                </a:r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SARIMA Model Structure</a:t>
                </a:r>
              </a:p>
              <a:p>
                <a:r>
                  <a:rPr lang="en-US" dirty="0"/>
                  <a:t>We fit a SARIMA(0,1,2)(2,0,2)_7 model:</a:t>
                </a:r>
              </a:p>
              <a:p>
                <a:r>
                  <a:rPr lang="en-US" dirty="0"/>
                  <a:t>The ‘1’ indicates first differencing to remove the trend</a:t>
                </a:r>
              </a:p>
              <a:p>
                <a:r>
                  <a:rPr lang="en-US" dirty="0"/>
                  <a:t>The ‘MA(2)’ component captures short-term shocks</a:t>
                </a:r>
              </a:p>
              <a:p>
                <a:r>
                  <a:rPr lang="en-US" dirty="0"/>
                  <a:t>The seasonal AR and MA terms capture the weekly pattern</a:t>
                </a:r>
              </a:p>
              <a:p>
                <a:r>
                  <a:rPr lang="en-US" dirty="0"/>
                  <a:t>The period ‘7’ specifies that the season repeats every 7 days</a:t>
                </a:r>
              </a:p>
              <a:p>
                <a:r>
                  <a:rPr lang="en-US" dirty="0"/>
                  <a:t>This model was selected because it minimized AIC and passed all residual diagnostics.”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Differencing (d = 1) was required because the series is non-stationary</a:t>
                </a:r>
              </a:p>
              <a:p>
                <a:r>
                  <a:rPr lang="en-US" dirty="0"/>
                  <a:t>The Augmented Dickey–Fuller (ADF) test showed:</a:t>
                </a:r>
              </a:p>
              <a:p>
                <a:r>
                  <a:rPr lang="en-US" dirty="0"/>
                  <a:t>The original series </a:t>
                </a:r>
                <a:r>
                  <a:rPr lang="en-US" b="1" dirty="0"/>
                  <a:t>fails</a:t>
                </a:r>
                <a:r>
                  <a:rPr lang="en-US" dirty="0"/>
                  <a:t> the stationarity test</a:t>
                </a:r>
              </a:p>
              <a:p>
                <a:r>
                  <a:rPr lang="en-US" dirty="0"/>
                  <a:t>The first-differenced series </a:t>
                </a:r>
                <a:r>
                  <a:rPr lang="en-US" b="1" dirty="0"/>
                  <a:t>passes strongly</a:t>
                </a:r>
                <a:endParaRPr lang="en-US" dirty="0"/>
              </a:p>
              <a:p>
                <a:r>
                  <a:rPr lang="en-US" dirty="0"/>
                  <a:t>This means the data contains a </a:t>
                </a:r>
                <a:r>
                  <a:rPr lang="en-US" b="1" dirty="0"/>
                  <a:t>trend-like component</a:t>
                </a:r>
                <a:r>
                  <a:rPr lang="en-US" dirty="0"/>
                  <a:t>, and ARIMA modeling requires us to: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"Difference the series once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(𝑑=1)</a:t>
                </a:r>
                <a:endParaRPr lang="ar-AE" b="0" dirty="0"/>
              </a:p>
              <a:p>
                <a:r>
                  <a:rPr lang="en-US" dirty="0"/>
                  <a:t>This ensures stationarity — a core assumption for ARIMA models.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Non-seasonal MA(2) was selected based on ACF &amp; model selection</a:t>
                </a:r>
              </a:p>
              <a:p>
                <a:r>
                  <a:rPr lang="en-US" dirty="0"/>
                  <a:t>After differencing, the </a:t>
                </a:r>
                <a:r>
                  <a:rPr lang="en-US" b="1" dirty="0"/>
                  <a:t>ACF</a:t>
                </a:r>
                <a:r>
                  <a:rPr lang="en-US" dirty="0"/>
                  <a:t> plot showed:</a:t>
                </a:r>
              </a:p>
              <a:p>
                <a:r>
                  <a:rPr lang="en-US" dirty="0"/>
                  <a:t>A strong </a:t>
                </a:r>
                <a:r>
                  <a:rPr lang="en-US" b="1" dirty="0"/>
                  <a:t>cutoff after lag 2</a:t>
                </a:r>
                <a:endParaRPr lang="en-US" dirty="0"/>
              </a:p>
              <a:p>
                <a:r>
                  <a:rPr lang="en-US" dirty="0"/>
                  <a:t>Significant correlations at lags 1 and 2</a:t>
                </a:r>
              </a:p>
              <a:p>
                <a:r>
                  <a:rPr lang="en-US" dirty="0"/>
                  <a:t>PACF did not show strong AR structure</a:t>
                </a:r>
              </a:p>
              <a:p>
                <a:r>
                  <a:rPr lang="en-US" dirty="0"/>
                  <a:t>This pattern is characteristic of a </a:t>
                </a:r>
                <a:r>
                  <a:rPr lang="en-US" b="1" dirty="0"/>
                  <a:t>Moving Average process of order 2</a:t>
                </a:r>
                <a:r>
                  <a:rPr lang="en-US" dirty="0"/>
                  <a:t>:</a:t>
                </a:r>
              </a:p>
              <a:p>
                <a:r>
                  <a:rPr lang="en-US" b="0" i="0">
                    <a:latin typeface="Cambria Math" panose="02040503050406030204" pitchFamily="18" charset="0"/>
                  </a:rPr>
                  <a:t>"MA(2)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⇒ 𝑞=2,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"  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𝑝=0</a:t>
                </a:r>
                <a:endParaRPr lang="en-US" b="0" dirty="0"/>
              </a:p>
              <a:p>
                <a:r>
                  <a:rPr lang="en-US" dirty="0"/>
                  <a:t>Additionally:</a:t>
                </a:r>
              </a:p>
              <a:p>
                <a:r>
                  <a:rPr lang="en-US" dirty="0"/>
                  <a:t>IC metrics (AIC, </a:t>
                </a:r>
                <a:r>
                  <a:rPr lang="en-US" dirty="0" err="1"/>
                  <a:t>AICc</a:t>
                </a:r>
                <a:r>
                  <a:rPr lang="en-US" dirty="0"/>
                  <a:t>) were lower for MA(2) compared to alternatives</a:t>
                </a:r>
              </a:p>
              <a:p>
                <a:r>
                  <a:rPr lang="en-US" dirty="0"/>
                  <a:t>MA(2) helped whiten residuals — no significant autocorrelation remained</a:t>
                </a:r>
              </a:p>
              <a:p>
                <a:r>
                  <a:rPr lang="en-US" dirty="0"/>
                  <a:t>Thus, </a:t>
                </a:r>
                <a:r>
                  <a:rPr lang="en-US" b="1" dirty="0"/>
                  <a:t>(0,1,2)</a:t>
                </a:r>
                <a:r>
                  <a:rPr lang="en-US" dirty="0"/>
                  <a:t> was selected for the non-seasonal component.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Weekly seasonality required a 7-period seasonal model</a:t>
                </a:r>
              </a:p>
              <a:p>
                <a:r>
                  <a:rPr lang="en-US" dirty="0"/>
                  <a:t>Daily warehouse operations commonly exhibit a </a:t>
                </a:r>
                <a:r>
                  <a:rPr lang="en-US" b="1" dirty="0"/>
                  <a:t>7-day cycle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Both diagnostics and business logic supported weekly seasonality:</a:t>
                </a:r>
              </a:p>
              <a:p>
                <a:r>
                  <a:rPr lang="en-US" dirty="0"/>
                  <a:t>ACF spikes at lag </a:t>
                </a:r>
                <a:r>
                  <a:rPr lang="en-US" b="1" dirty="0"/>
                  <a:t>7, 14, 21</a:t>
                </a:r>
                <a:endParaRPr lang="en-US" dirty="0"/>
              </a:p>
              <a:p>
                <a:r>
                  <a:rPr lang="en-US" dirty="0"/>
                  <a:t>Clear weekly variation in space usage</a:t>
                </a:r>
              </a:p>
              <a:p>
                <a:r>
                  <a:rPr lang="en-US" dirty="0"/>
                  <a:t>Lower AIC for models including seasonality</a:t>
                </a:r>
              </a:p>
              <a:p>
                <a:r>
                  <a:rPr lang="en-US" dirty="0"/>
                  <a:t>Improved residual behavior</a:t>
                </a:r>
              </a:p>
              <a:p>
                <a:r>
                  <a:rPr lang="en-US" dirty="0"/>
                  <a:t>Thus, a seasonal period of: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𝑠=7 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"(weekly seasonality)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endParaRPr lang="en-US" b="0" dirty="0"/>
              </a:p>
              <a:p>
                <a:r>
                  <a:rPr lang="en-US" dirty="0"/>
                  <a:t>was appropriate.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Seasonal AR(2) (P = 2) captures repeated weekly patterns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PACF</a:t>
                </a:r>
                <a:r>
                  <a:rPr lang="en-US" dirty="0"/>
                  <a:t> of the differenced series showed significant seasonal spikes at:</a:t>
                </a:r>
              </a:p>
              <a:p>
                <a:r>
                  <a:rPr lang="en-US" dirty="0"/>
                  <a:t>Lag 7</a:t>
                </a:r>
              </a:p>
              <a:p>
                <a:r>
                  <a:rPr lang="en-US" dirty="0"/>
                  <a:t>Lag 14</a:t>
                </a:r>
              </a:p>
              <a:p>
                <a:r>
                  <a:rPr lang="en-US" dirty="0"/>
                  <a:t>This indicates a </a:t>
                </a:r>
                <a:r>
                  <a:rPr lang="en-US" b="1" dirty="0"/>
                  <a:t>Seasonal </a:t>
                </a:r>
                <a:r>
                  <a:rPr lang="en-US" b="1" dirty="0" err="1"/>
                  <a:t>AutoRegressive</a:t>
                </a:r>
                <a:r>
                  <a:rPr lang="en-US" b="1" dirty="0"/>
                  <a:t> (SAR) structure</a:t>
                </a:r>
                <a:r>
                  <a:rPr lang="en-US" dirty="0"/>
                  <a:t> of order 2:</a:t>
                </a:r>
              </a:p>
              <a:p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Φ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_1 𝑦_(𝑡−7)+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Φ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_2 𝑦_(𝑡−14)</a:t>
                </a:r>
                <a:endParaRPr lang="ar-AE" dirty="0"/>
              </a:p>
              <a:p>
                <a:r>
                  <a:rPr lang="en-US" dirty="0"/>
                  <a:t>Including SAR(2):</a:t>
                </a:r>
              </a:p>
              <a:p>
                <a:r>
                  <a:rPr lang="en-US" dirty="0"/>
                  <a:t>Captures the weekly “momentum” of space usage</a:t>
                </a:r>
              </a:p>
              <a:p>
                <a:r>
                  <a:rPr lang="en-US" dirty="0"/>
                  <a:t>Helps the model learn systematic behaviors such as repeated weekly peaks</a:t>
                </a:r>
              </a:p>
              <a:p>
                <a:r>
                  <a:rPr lang="en-US" dirty="0"/>
                  <a:t>Reduced residual autocorrelation at seasonal lags</a:t>
                </a:r>
              </a:p>
              <a:p>
                <a:r>
                  <a:rPr lang="en-US" dirty="0"/>
                  <a:t>Thus: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𝑃=2</a:t>
                </a:r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5. Seasonal MA(2) (Q = 2) captures shocks that repeat weekly</a:t>
                </a:r>
              </a:p>
              <a:p>
                <a:r>
                  <a:rPr lang="en-US" dirty="0"/>
                  <a:t>The seasonal ACF also showed:</a:t>
                </a:r>
              </a:p>
              <a:p>
                <a:r>
                  <a:rPr lang="en-US" dirty="0"/>
                  <a:t>Strong spikes at lags </a:t>
                </a:r>
                <a:r>
                  <a:rPr lang="en-US" b="1" dirty="0"/>
                  <a:t>7 and 14</a:t>
                </a:r>
                <a:endParaRPr lang="en-US" dirty="0"/>
              </a:p>
              <a:p>
                <a:r>
                  <a:rPr lang="en-US" dirty="0"/>
                  <a:t>Patterns that decay after seasonal differencing</a:t>
                </a:r>
              </a:p>
              <a:p>
                <a:r>
                  <a:rPr lang="en-US" dirty="0"/>
                  <a:t>This behavior suggests a </a:t>
                </a:r>
                <a:r>
                  <a:rPr lang="en-US" b="1" dirty="0"/>
                  <a:t>Seasonal Moving Average (SMA)</a:t>
                </a:r>
                <a:r>
                  <a:rPr lang="en-US" dirty="0"/>
                  <a:t> component:</a:t>
                </a:r>
              </a:p>
              <a:p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_1 𝜀_(𝑡−7)+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Θ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_2 𝜀_(𝑡−14)</a:t>
                </a:r>
                <a:endParaRPr lang="ar-AE" dirty="0"/>
              </a:p>
              <a:p>
                <a:r>
                  <a:rPr lang="en-US" dirty="0"/>
                  <a:t>Including SMA terms:</a:t>
                </a:r>
              </a:p>
              <a:p>
                <a:r>
                  <a:rPr lang="en-US" dirty="0"/>
                  <a:t>Accounts for unexpected shocks that persist on a weekly basis</a:t>
                </a:r>
              </a:p>
              <a:p>
                <a:r>
                  <a:rPr lang="en-US" dirty="0"/>
                  <a:t>Greatly improved residual diagnostics</a:t>
                </a:r>
              </a:p>
              <a:p>
                <a:r>
                  <a:rPr lang="en-US" dirty="0"/>
                  <a:t>Further minimized AIC/</a:t>
                </a:r>
                <a:r>
                  <a:rPr lang="en-US" dirty="0" err="1"/>
                  <a:t>AICc</a:t>
                </a:r>
                <a:r>
                  <a:rPr lang="en-US" dirty="0"/>
                  <a:t> relative to SAR(2) alone</a:t>
                </a:r>
              </a:p>
              <a:p>
                <a:r>
                  <a:rPr lang="en-US" dirty="0"/>
                  <a:t>Thus: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𝑄=2</a:t>
                </a:r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Overall Model Fit Was Superior</a:t>
                </a:r>
              </a:p>
              <a:p>
                <a:r>
                  <a:rPr lang="en-US" dirty="0"/>
                  <a:t>Model comparison using AIC/</a:t>
                </a:r>
                <a:r>
                  <a:rPr lang="en-US" dirty="0" err="1"/>
                  <a:t>AICc</a:t>
                </a:r>
                <a:r>
                  <a:rPr lang="en-US" dirty="0"/>
                  <a:t>/BIC showed:</a:t>
                </a:r>
              </a:p>
              <a:p>
                <a:r>
                  <a:rPr lang="en-US" dirty="0"/>
                  <a:t>Model </a:t>
                </a:r>
                <a:r>
                  <a:rPr lang="en-US" dirty="0" err="1"/>
                  <a:t>TestedAIC</a:t>
                </a:r>
                <a:r>
                  <a:rPr lang="en-US" dirty="0"/>
                  <a:t> </a:t>
                </a:r>
                <a:r>
                  <a:rPr lang="en-US" dirty="0" err="1"/>
                  <a:t>ScoreResidual</a:t>
                </a:r>
                <a:r>
                  <a:rPr lang="en-US" dirty="0"/>
                  <a:t> </a:t>
                </a:r>
                <a:r>
                  <a:rPr lang="en-US" dirty="0" err="1"/>
                  <a:t>Issues?ARIMA</a:t>
                </a:r>
                <a:r>
                  <a:rPr lang="en-US" dirty="0"/>
                  <a:t>(0,1,1)</a:t>
                </a:r>
                <a:r>
                  <a:rPr lang="en-US" dirty="0" err="1"/>
                  <a:t>HigherSeasonal</a:t>
                </a:r>
                <a:r>
                  <a:rPr lang="en-US" dirty="0"/>
                  <a:t> autocorrelation </a:t>
                </a:r>
                <a:r>
                  <a:rPr lang="en-US" dirty="0" err="1"/>
                  <a:t>remainsSARIMA</a:t>
                </a:r>
                <a:r>
                  <a:rPr lang="en-US" dirty="0"/>
                  <a:t>(0,1,1)(1,0,1)\₇Improved but still autocorrelation</a:t>
                </a:r>
              </a:p>
              <a:p>
                <a:endParaRPr lang="en-US" b="1" dirty="0"/>
              </a:p>
              <a:p>
                <a:r>
                  <a:rPr lang="en-US" b="1" dirty="0"/>
                  <a:t>SARIMA(0,1,2)(2,0,2)\₇Lowest </a:t>
                </a:r>
                <a:r>
                  <a:rPr lang="en-US" b="1" dirty="0" err="1"/>
                  <a:t>AICResiduals</a:t>
                </a:r>
                <a:r>
                  <a:rPr lang="en-US" b="1" dirty="0"/>
                  <a:t> pass Q-tests</a:t>
                </a:r>
                <a:endParaRPr lang="en-US" dirty="0"/>
              </a:p>
              <a:p>
                <a:r>
                  <a:rPr lang="en-US" dirty="0"/>
                  <a:t>Residual diagnostics confirmed:</a:t>
                </a:r>
              </a:p>
              <a:p>
                <a:r>
                  <a:rPr lang="en-US" dirty="0"/>
                  <a:t>No remaining autocorrelation (Ljung–Box p &gt; 0.10)</a:t>
                </a:r>
              </a:p>
              <a:p>
                <a:r>
                  <a:rPr lang="en-US" dirty="0"/>
                  <a:t>Residuals resemble white noise</a:t>
                </a:r>
              </a:p>
              <a:p>
                <a:r>
                  <a:rPr lang="en-US" dirty="0"/>
                  <a:t>Forecast errors minimized</a:t>
                </a:r>
              </a:p>
              <a:p>
                <a:r>
                  <a:rPr lang="en-US" dirty="0"/>
                  <a:t>Seasonality fully captured</a:t>
                </a:r>
              </a:p>
              <a:p>
                <a:r>
                  <a:rPr lang="en-US" dirty="0"/>
                  <a:t>This made the chosen model </a:t>
                </a:r>
                <a:r>
                  <a:rPr lang="en-US" b="1" dirty="0"/>
                  <a:t>statistically optimal</a:t>
                </a:r>
                <a:r>
                  <a:rPr lang="en-US" dirty="0"/>
                  <a:t> among candidates.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Practical Justification (Operational Logic)</a:t>
                </a:r>
              </a:p>
              <a:p>
                <a:r>
                  <a:rPr lang="en-US" dirty="0"/>
                  <a:t>Beyond the statistical fit, this model makes sense operationally:</a:t>
                </a:r>
              </a:p>
              <a:p>
                <a:r>
                  <a:rPr lang="en-US" dirty="0"/>
                  <a:t>Space usage follows a </a:t>
                </a:r>
                <a:r>
                  <a:rPr lang="en-US" b="1" dirty="0"/>
                  <a:t>weekly rhythm</a:t>
                </a:r>
                <a:r>
                  <a:rPr lang="en-US" dirty="0"/>
                  <a:t> (due to staffing, deliveries, production cycles)</a:t>
                </a:r>
              </a:p>
              <a:p>
                <a:r>
                  <a:rPr lang="en-US" dirty="0"/>
                  <a:t>Day-to-day space usage is noisy → MA terms help capture short-lived shocks</a:t>
                </a:r>
              </a:p>
              <a:p>
                <a:r>
                  <a:rPr lang="en-US" dirty="0"/>
                  <a:t>Weekly patterns persist → SAR and SMA terms reflect genuine warehouse behavior</a:t>
                </a:r>
              </a:p>
              <a:p>
                <a:r>
                  <a:rPr lang="en-US" dirty="0"/>
                  <a:t>The single differencing captures slow-changing capacity trends or gradual shifts in SKU mix</a:t>
                </a:r>
              </a:p>
              <a:p>
                <a:r>
                  <a:rPr lang="en-US" dirty="0"/>
                  <a:t>So the model aligns with </a:t>
                </a:r>
                <a:r>
                  <a:rPr lang="en-US" b="1" dirty="0"/>
                  <a:t>real operational mechanisms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8057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202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C6EE-3422-C717-F647-27D54B8D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AE2CA-B330-A986-4CA8-B9FE0E65D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473CCA9-F9B5-ECC9-BBED-746A5482865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473CCA9-F9B5-ECC9-BBED-746A5482865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 used VAR because the four product categories don’t move independently—they influence one another. For example, spikes in Smartphone transfers often coincide with increases in Headphone or Laptop transfers. A VAR model captures these cross-</a:t>
                </a:r>
                <a:r>
                  <a:rPr lang="en-US" dirty="0" err="1"/>
                  <a:t>categoris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Unlike SARIMA, which treats the total as a single series, VAR treats multiple series jointly, making it ideal for category-level forecasting.”</a:t>
                </a:r>
              </a:p>
              <a:p>
                <a:endParaRPr lang="en-US" dirty="0"/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endParaRPr lang="en-US" b="1" dirty="0"/>
              </a:p>
              <a:p>
                <a:pPr>
                  <a:buNone/>
                </a:pPr>
                <a:r>
                  <a:rPr lang="en-US" b="1" dirty="0"/>
                  <a:t>Interpretation of Variables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i="0">
                    <a:latin typeface="Cambria Math" panose="02040503050406030204" pitchFamily="18" charset="0"/>
                  </a:rPr>
                  <a:t>Δ</a:t>
                </a:r>
                <a:r>
                  <a:rPr lang="ar-AE" i="0">
                    <a:latin typeface="Cambria Math" panose="02040503050406030204" pitchFamily="18" charset="0"/>
                  </a:rPr>
                  <a:t>𝐻_𝑡</a:t>
                </a:r>
                <a:r>
                  <a:rPr lang="ar-AE" dirty="0"/>
                  <a:t>: </a:t>
                </a:r>
                <a:r>
                  <a:rPr lang="en-US" dirty="0"/>
                  <a:t>change in Headphones space (m³) from t−1 to 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i="0">
                    <a:latin typeface="Cambria Math" panose="02040503050406030204" pitchFamily="18" charset="0"/>
                  </a:rPr>
                  <a:t>Δ</a:t>
                </a:r>
                <a:r>
                  <a:rPr lang="ar-AE" i="0">
                    <a:latin typeface="Cambria Math" panose="02040503050406030204" pitchFamily="18" charset="0"/>
                  </a:rPr>
                  <a:t>𝐿_𝑡</a:t>
                </a:r>
                <a:r>
                  <a:rPr lang="ar-AE" dirty="0"/>
                  <a:t>: </a:t>
                </a:r>
                <a:r>
                  <a:rPr lang="en-US" dirty="0"/>
                  <a:t>change in Laptop space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i="0">
                    <a:latin typeface="Cambria Math" panose="02040503050406030204" pitchFamily="18" charset="0"/>
                  </a:rPr>
                  <a:t>Δ</a:t>
                </a:r>
                <a:r>
                  <a:rPr lang="ar-AE" i="0">
                    <a:latin typeface="Cambria Math" panose="02040503050406030204" pitchFamily="18" charset="0"/>
                  </a:rPr>
                  <a:t>𝑀_𝑡</a:t>
                </a:r>
                <a:r>
                  <a:rPr lang="ar-AE" dirty="0"/>
                  <a:t>: </a:t>
                </a:r>
                <a:r>
                  <a:rPr lang="en-US" dirty="0"/>
                  <a:t>change in Monitor space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i="0">
                    <a:latin typeface="Cambria Math" panose="02040503050406030204" pitchFamily="18" charset="0"/>
                  </a:rPr>
                  <a:t>Δ</a:t>
                </a:r>
                <a:r>
                  <a:rPr lang="ar-AE" i="0">
                    <a:latin typeface="Cambria Math" panose="02040503050406030204" pitchFamily="18" charset="0"/>
                  </a:rPr>
                  <a:t>𝑆_𝑡</a:t>
                </a:r>
                <a:r>
                  <a:rPr lang="ar-AE" dirty="0"/>
                  <a:t>: </a:t>
                </a:r>
                <a:r>
                  <a:rPr lang="en-US" dirty="0"/>
                  <a:t>change in Smartphone space</a:t>
                </a:r>
              </a:p>
              <a:p>
                <a:pPr>
                  <a:buNone/>
                </a:pPr>
                <a:r>
                  <a:rPr lang="en-US" dirty="0"/>
                  <a:t>Example interpretation of a coefficient:</a:t>
                </a:r>
              </a:p>
              <a:p>
                <a:pPr>
                  <a:buNone/>
                </a:pPr>
                <a:r>
                  <a:rPr lang="ar-AE" i="0">
                    <a:latin typeface="Cambria Math" panose="02040503050406030204" pitchFamily="18" charset="0"/>
                  </a:rPr>
                  <a:t>𝑎_14^((1) )</a:t>
                </a:r>
                <a:endParaRPr lang="ar-AE" dirty="0"/>
              </a:p>
              <a:p>
                <a:pPr>
                  <a:buNone/>
                </a:pPr>
                <a:r>
                  <a:rPr lang="en-US" dirty="0"/>
                  <a:t>This coefficient represents:</a:t>
                </a:r>
              </a:p>
              <a:p>
                <a:pPr>
                  <a:buNone/>
                </a:pPr>
                <a:r>
                  <a:rPr lang="en-US" dirty="0"/>
                  <a:t>“How yesterday’s change in Smartphone space affects today’s change in Headphones space.”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/>
                  <a:t>VAR Model—Why We Used It</a:t>
                </a:r>
              </a:p>
              <a:p>
                <a:r>
                  <a:rPr lang="en-US" dirty="0"/>
                  <a:t>“VAR stands for Vector Autoregression.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5AAA9-D715-068B-9631-111B0578B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031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715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32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2234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00EEB-8338-48D7-8EE8-EE0082EF760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66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reestock.com/free-videos/animation-full-fluttering-national-flag-mongolia-2479400" TargetMode="External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511EBC-2F3C-446D-867B-7DC328517A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20" b="20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30D32A-359B-41BB-9746-2CF3A21E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1" y="819397"/>
            <a:ext cx="9797142" cy="881744"/>
          </a:xfrm>
        </p:spPr>
        <p:txBody>
          <a:bodyPr>
            <a:normAutofit/>
          </a:bodyPr>
          <a:lstStyle/>
          <a:p>
            <a:r>
              <a:rPr lang="en-US" sz="4800" b="1" dirty="0"/>
              <a:t>Intelligent Inventory</a:t>
            </a:r>
            <a:endParaRPr lang="ru-RU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A222A-88BC-48F4-9AE8-2115B7D1E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1182" y="1787675"/>
            <a:ext cx="8825658" cy="1276827"/>
          </a:xfrm>
        </p:spPr>
        <p:txBody>
          <a:bodyPr>
            <a:normAutofit lnSpcReduction="10000"/>
          </a:bodyPr>
          <a:lstStyle/>
          <a:p>
            <a:r>
              <a:rPr lang="en-US" sz="3900" dirty="0"/>
              <a:t>A Time Series Analysis and LSTM Optimization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F4167-38BC-188F-5C59-FD7F4BB8CA53}"/>
              </a:ext>
            </a:extLst>
          </p:cNvPr>
          <p:cNvSpPr txBox="1"/>
          <p:nvPr/>
        </p:nvSpPr>
        <p:spPr>
          <a:xfrm>
            <a:off x="548641" y="4226883"/>
            <a:ext cx="2329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Edwin Quijano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9D27F3-8FE7-EE02-C966-8518AAC01E0E}"/>
              </a:ext>
            </a:extLst>
          </p:cNvPr>
          <p:cNvSpPr txBox="1"/>
          <p:nvPr/>
        </p:nvSpPr>
        <p:spPr>
          <a:xfrm>
            <a:off x="548641" y="5355619"/>
            <a:ext cx="782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Capstone Project In Data Science IDC-6940 | Professor Dr. </a:t>
            </a:r>
            <a:r>
              <a:rPr lang="en-US" dirty="0" err="1"/>
              <a:t>Shusen</a:t>
            </a:r>
            <a:r>
              <a:rPr lang="en-US" dirty="0"/>
              <a:t> Pu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23C1B-C412-DA73-0640-6850290B564B}"/>
              </a:ext>
            </a:extLst>
          </p:cNvPr>
          <p:cNvSpPr txBox="1"/>
          <p:nvPr/>
        </p:nvSpPr>
        <p:spPr>
          <a:xfrm>
            <a:off x="548641" y="4893954"/>
            <a:ext cx="3809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University of West Florida</a:t>
            </a:r>
          </a:p>
        </p:txBody>
      </p:sp>
    </p:spTree>
    <p:extLst>
      <p:ext uri="{BB962C8B-B14F-4D97-AF65-F5344CB8AC3E}">
        <p14:creationId xmlns:p14="http://schemas.microsoft.com/office/powerpoint/2010/main" val="1930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282F-5788-664D-0909-AD4BB4847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Background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02EFF4-8732-196F-B518-201C4B081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Inventory</a:t>
            </a:r>
            <a:r>
              <a:rPr lang="en-US" baseline="0" dirty="0"/>
              <a:t> storage during 2020 to 2022.</a:t>
            </a:r>
          </a:p>
          <a:p>
            <a:r>
              <a:rPr lang="en-US" baseline="0" dirty="0"/>
              <a:t>Normalization of inventories in 2023 and 2024.</a:t>
            </a:r>
          </a:p>
          <a:p>
            <a:r>
              <a:rPr lang="en-US" baseline="0" dirty="0"/>
              <a:t>U.S political policies affecting supply chain in 2025.</a:t>
            </a:r>
          </a:p>
          <a:p>
            <a:r>
              <a:rPr lang="en-US" baseline="0" dirty="0"/>
              <a:t>Shipments are re-routed to South America </a:t>
            </a:r>
            <a:r>
              <a:rPr lang="en-US" dirty="0"/>
              <a:t>to reduce costs.</a:t>
            </a:r>
          </a:p>
          <a:p>
            <a:r>
              <a:rPr lang="en-US" baseline="0" dirty="0"/>
              <a:t>The challenge of limited warehouse</a:t>
            </a:r>
            <a:r>
              <a:rPr lang="en-US" dirty="0"/>
              <a:t> space.</a:t>
            </a:r>
            <a:endParaRPr lang="en-US" baseline="0" dirty="0"/>
          </a:p>
          <a:p>
            <a:pPr marL="0" indent="0">
              <a:buNone/>
            </a:pPr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17370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1E7D-3ED3-F11B-4E59-659136200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Forecasting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D162B-9CEE-3C3D-76FC-D344F8C27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Plan Warehouse Capacity</a:t>
            </a:r>
          </a:p>
          <a:p>
            <a:r>
              <a:rPr lang="en-US" dirty="0"/>
              <a:t>Improves Labor &amp; Staffing Plans</a:t>
            </a:r>
          </a:p>
          <a:p>
            <a:r>
              <a:rPr lang="en-US" dirty="0"/>
              <a:t>Reduces Congestion and Cycle Time</a:t>
            </a:r>
          </a:p>
          <a:p>
            <a:r>
              <a:rPr lang="en-US" dirty="0"/>
              <a:t>Enables Better Inventory Strategy</a:t>
            </a:r>
          </a:p>
          <a:p>
            <a:r>
              <a:rPr lang="en-US" dirty="0"/>
              <a:t>Supports Financial and Operational Planning</a:t>
            </a:r>
          </a:p>
          <a:p>
            <a:r>
              <a:rPr lang="en-US" dirty="0"/>
              <a:t>Improves Vendor and Inbound Scheduling</a:t>
            </a:r>
          </a:p>
          <a:p>
            <a:r>
              <a:rPr lang="en-US" dirty="0"/>
              <a:t>Creates Early Warning Signals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93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B5296-21E8-022D-4307-22D2E8C5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Quality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B7D3A-23CF-BBE4-5CAF-42BDC7EB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335"/>
          <a:stretch>
            <a:fillRect/>
          </a:stretch>
        </p:blipFill>
        <p:spPr>
          <a:xfrm>
            <a:off x="737458" y="1310376"/>
            <a:ext cx="8379376" cy="16042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9DF9C4-047D-5574-191C-660BB304E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309" y="1627142"/>
            <a:ext cx="3329950" cy="15136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AF34A-5197-D21D-8F8B-7D9542E53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772307"/>
            <a:ext cx="8946541" cy="2476091"/>
          </a:xfrm>
        </p:spPr>
        <p:txBody>
          <a:bodyPr/>
          <a:lstStyle/>
          <a:p>
            <a:r>
              <a:rPr lang="en-US" dirty="0"/>
              <a:t>10,000 rows</a:t>
            </a:r>
          </a:p>
          <a:p>
            <a:r>
              <a:rPr lang="en-US" dirty="0"/>
              <a:t>4 product categories</a:t>
            </a:r>
          </a:p>
          <a:p>
            <a:r>
              <a:rPr lang="en-US" dirty="0"/>
              <a:t>Product dimensions</a:t>
            </a:r>
          </a:p>
          <a:p>
            <a:r>
              <a:rPr lang="en-US" dirty="0"/>
              <a:t>Stock quantity</a:t>
            </a:r>
          </a:p>
        </p:txBody>
      </p:sp>
    </p:spTree>
    <p:extLst>
      <p:ext uri="{BB962C8B-B14F-4D97-AF65-F5344CB8AC3E}">
        <p14:creationId xmlns:p14="http://schemas.microsoft.com/office/powerpoint/2010/main" val="253420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E12D-3537-1053-83BE-FD59C265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variables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1849516-4B2D-4DDE-3989-CD3AEBA59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61" y="2051831"/>
            <a:ext cx="9968927" cy="156482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4B160D-C685-0CDD-FF73-47A464502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84" y="3895833"/>
            <a:ext cx="10348937" cy="172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72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FACA-1552-4E6F-17AD-EBCA3994F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&amp; 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CFB61-B65B-1D51-A71C-C5FDB2EF2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784" y="1725372"/>
            <a:ext cx="4992688" cy="2951835"/>
          </a:xfrm>
        </p:spPr>
        <p:txBody>
          <a:bodyPr/>
          <a:lstStyle/>
          <a:p>
            <a:r>
              <a:rPr lang="en-US" dirty="0"/>
              <a:t>Data Preparation for Modeling</a:t>
            </a:r>
          </a:p>
          <a:p>
            <a:r>
              <a:rPr lang="en-US" dirty="0"/>
              <a:t>Stationarity Testing (ADF Test)</a:t>
            </a:r>
          </a:p>
          <a:p>
            <a:r>
              <a:rPr lang="en-US" dirty="0"/>
              <a:t>SARIMA Model Structure</a:t>
            </a:r>
          </a:p>
          <a:p>
            <a:r>
              <a:rPr lang="en-US" dirty="0"/>
              <a:t>SARIMA Residual Diagnostics</a:t>
            </a:r>
          </a:p>
          <a:p>
            <a:r>
              <a:rPr lang="en-US" dirty="0"/>
              <a:t>VAR Model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28AC5A-17B0-25D6-53E0-2663BB84A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884" y="1853248"/>
            <a:ext cx="7375981" cy="455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0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A321-7114-53DB-F6F0-9898BB39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&amp; INTERPRETATION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B1756-4367-86A9-7FCA-E2228093A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876" y="1385248"/>
            <a:ext cx="6818812" cy="3528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6010F1-C994-69DC-5FB7-B1701B821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0" y="5004753"/>
            <a:ext cx="11806139" cy="152958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C47091-A456-4B0E-E4F9-6263274FF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space usage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42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8A2D-5060-5071-9C98-D2936072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vs. Space Correlation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683F84-2A61-9D16-C49D-DD1FFE22B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1371600"/>
            <a:ext cx="6667500" cy="411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D7F36C-E97C-8469-4800-565BC8126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281" y="3826793"/>
            <a:ext cx="6620554" cy="265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0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F7D64F-7DA9-BBA5-883D-806AF8273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Space</a:t>
            </a:r>
            <a:r>
              <a:rPr lang="en-US" baseline="0" dirty="0"/>
              <a:t> – </a:t>
            </a:r>
            <a:r>
              <a:rPr lang="en-US" dirty="0"/>
              <a:t>Non-Stationarity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00ED4-6495-6032-E427-661BA99CA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74" y="1412290"/>
            <a:ext cx="5475652" cy="3382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C08108-8160-AF0C-93CC-A938F716C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2225" y="2674961"/>
            <a:ext cx="6449614" cy="398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7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419D-8698-A362-15A2-E0D3B3C8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b="0" i="0" kern="1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Augmented Dickey–Fuller (ADF) test</a:t>
            </a:r>
            <a:endParaRPr lang="en-US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0CDF612-B7AD-43CA-B53E-9DD739E05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0" y="2033517"/>
            <a:ext cx="9404723" cy="427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8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BD47E-BE21-C66C-0027-3B4BA06D5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77" y="364829"/>
            <a:ext cx="9404723" cy="1400530"/>
          </a:xfrm>
        </p:spPr>
        <p:txBody>
          <a:bodyPr/>
          <a:lstStyle/>
          <a:p>
            <a:r>
              <a:rPr lang="en-US" dirty="0"/>
              <a:t>Total Space with difference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D58FED-159E-6524-8202-48B35E2C4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21" y="1399464"/>
            <a:ext cx="6085114" cy="3759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B1956-054C-E93A-92E9-EC237D500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739" y="2511188"/>
            <a:ext cx="6626340" cy="409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70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744C-2363-83D6-CCDA-0586CBDF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SARIMA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27F5A3-BCE0-8BCD-C112-76249058AA3E}"/>
                  </a:ext>
                </a:extLst>
              </p:cNvPr>
              <p:cNvSpPr txBox="1"/>
              <p:nvPr/>
            </p:nvSpPr>
            <p:spPr>
              <a:xfrm>
                <a:off x="1021277" y="1306496"/>
                <a:ext cx="9692215" cy="45924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SARIMA (</a:t>
                </a:r>
                <a:r>
                  <a:rPr lang="en-US" sz="2400" i="1" dirty="0" err="1"/>
                  <a:t>p,d,q</a:t>
                </a:r>
                <a:r>
                  <a:rPr lang="en-US" sz="2400" b="1" dirty="0"/>
                  <a:t>) (</a:t>
                </a:r>
                <a:r>
                  <a:rPr lang="en-US" sz="2400" i="1" dirty="0"/>
                  <a:t>P,D,Q</a:t>
                </a:r>
                <a:r>
                  <a:rPr lang="en-US" sz="2400" b="1" dirty="0"/>
                  <a:t>)</a:t>
                </a:r>
              </a:p>
              <a:p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= backshift operator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= non-seasonal AR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= non-seasonal MA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= seasonal AR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= seasonal MA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/>
                  <a:t>days (weekly seasonality)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27F5A3-BCE0-8BCD-C112-76249058A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277" y="1306496"/>
                <a:ext cx="9692215" cy="4592411"/>
              </a:xfrm>
              <a:prstGeom prst="rect">
                <a:avLst/>
              </a:prstGeom>
              <a:blipFill>
                <a:blip r:embed="rId3"/>
                <a:stretch>
                  <a:fillRect l="-1007" t="-1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6757FDC-2A96-8823-7732-CED977204283}"/>
              </a:ext>
            </a:extLst>
          </p:cNvPr>
          <p:cNvSpPr txBox="1"/>
          <p:nvPr/>
        </p:nvSpPr>
        <p:spPr>
          <a:xfrm>
            <a:off x="646111" y="5668074"/>
            <a:ext cx="8258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	</a:t>
            </a:r>
            <a:r>
              <a:rPr lang="en-US" sz="2400" i="1" dirty="0"/>
              <a:t>p</a:t>
            </a:r>
            <a:r>
              <a:rPr lang="en-US" sz="2400" dirty="0"/>
              <a:t>=0, </a:t>
            </a:r>
            <a:r>
              <a:rPr lang="en-US" sz="2400" i="1" dirty="0"/>
              <a:t>d</a:t>
            </a:r>
            <a:r>
              <a:rPr lang="en-US" sz="2400" dirty="0"/>
              <a:t>=1, </a:t>
            </a:r>
            <a:r>
              <a:rPr lang="en-US" sz="2400" i="1" dirty="0"/>
              <a:t>q</a:t>
            </a:r>
            <a:r>
              <a:rPr lang="en-US" sz="2400" dirty="0"/>
              <a:t>=2 	</a:t>
            </a:r>
            <a:r>
              <a:rPr lang="en-US" sz="2400" i="1" dirty="0"/>
              <a:t>P</a:t>
            </a:r>
            <a:r>
              <a:rPr lang="en-US" sz="2400" dirty="0"/>
              <a:t>=2, </a:t>
            </a:r>
            <a:r>
              <a:rPr lang="en-US" sz="2400" i="1" dirty="0"/>
              <a:t>D</a:t>
            </a:r>
            <a:r>
              <a:rPr lang="en-US" sz="2400" dirty="0"/>
              <a:t>=0, </a:t>
            </a:r>
            <a:r>
              <a:rPr lang="en-US" sz="2400" i="1" dirty="0"/>
              <a:t>Q</a:t>
            </a:r>
            <a:r>
              <a:rPr lang="en-US" sz="2400" dirty="0"/>
              <a:t>=2	</a:t>
            </a:r>
            <a:r>
              <a:rPr lang="en-US" sz="2400" i="1" dirty="0"/>
              <a:t>s</a:t>
            </a:r>
            <a:r>
              <a:rPr lang="en-US" sz="2400" dirty="0"/>
              <a:t>=7</a:t>
            </a:r>
          </a:p>
        </p:txBody>
      </p:sp>
    </p:spTree>
    <p:extLst>
      <p:ext uri="{BB962C8B-B14F-4D97-AF65-F5344CB8AC3E}">
        <p14:creationId xmlns:p14="http://schemas.microsoft.com/office/powerpoint/2010/main" val="3496178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BF3D-2CAD-EC8D-F805-32236ECA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SARIMA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97126-3569-7AC2-1E6B-875D6CDF6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028" y="1152983"/>
            <a:ext cx="8981759" cy="554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8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A04E-0305-A84F-779B-C3B14B16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237CC-0FE2-17FE-E8CD-3BAE06F1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AE6631-193D-D671-F2A1-683C1E3A87ED}"/>
                  </a:ext>
                </a:extLst>
              </p:cNvPr>
              <p:cNvSpPr txBox="1"/>
              <p:nvPr/>
            </p:nvSpPr>
            <p:spPr>
              <a:xfrm>
                <a:off x="646111" y="1853248"/>
                <a:ext cx="9262164" cy="4062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VAR(2) means today's changes depend on the last two days.</a:t>
                </a:r>
              </a:p>
              <a:p>
                <a:r>
                  <a:rPr lang="en-US" sz="2400" dirty="0"/>
                  <a:t>The full model: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0" i="1"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400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b="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 sz="2400" b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sz="2400" b="0" i="1"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 b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b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l-GR" sz="2400" b="0" i="1">
                          <a:latin typeface="Cambria Math" panose="02040503050406030204" pitchFamily="18" charset="0"/>
                        </a:rPr>
                        <m:t>𝛥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2400" b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b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ar-AE" sz="24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ar-AE" sz="2400" dirty="0"/>
              </a:p>
              <a:p>
                <a:r>
                  <a:rPr lang="en-US" sz="24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l-GR" sz="2400" b="0" i="1">
                        <a:latin typeface="Cambria Math" panose="02040503050406030204" pitchFamily="18" charset="0"/>
                      </a:rPr>
                      <m:t>𝛥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n-US" sz="2400" dirty="0"/>
                  <a:t>vector of differenced category space at time t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/>
                  <a:t>= vector of intercept constants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n-US" sz="2400" dirty="0"/>
                  <a:t>coefficient matrix for lag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n-US" sz="2400" dirty="0"/>
                  <a:t>coefficient matrix for lag 2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ar-AE" sz="2400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ar-AE" sz="2400" dirty="0"/>
                  <a:t>= </a:t>
                </a:r>
                <a:r>
                  <a:rPr lang="en-US" sz="2400" dirty="0"/>
                  <a:t>vector of multivariate white-noise errors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AE6631-193D-D671-F2A1-683C1E3A8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111" y="1853248"/>
                <a:ext cx="9262164" cy="4062651"/>
              </a:xfrm>
              <a:prstGeom prst="rect">
                <a:avLst/>
              </a:prstGeom>
              <a:blipFill>
                <a:blip r:embed="rId3"/>
                <a:stretch>
                  <a:fillRect l="-1053" t="-1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766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6657-FCF7-6244-A106-8704297DA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3F1055-E2D2-4CCE-BCF3-F760A063A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654" y="1152983"/>
            <a:ext cx="8790691" cy="54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84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E1EE-24C4-308A-AC39-6F9761BD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vs ARIMA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A5F36C-A402-538E-1D6F-7B7B4CD08D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160908"/>
              </p:ext>
            </p:extLst>
          </p:nvPr>
        </p:nvGraphicFramePr>
        <p:xfrm>
          <a:off x="760504" y="2329180"/>
          <a:ext cx="10670992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449">
                  <a:extLst>
                    <a:ext uri="{9D8B030D-6E8A-4147-A177-3AD203B41FA5}">
                      <a16:colId xmlns:a16="http://schemas.microsoft.com/office/drawing/2014/main" val="1478951828"/>
                    </a:ext>
                  </a:extLst>
                </a:gridCol>
                <a:gridCol w="6241220">
                  <a:extLst>
                    <a:ext uri="{9D8B030D-6E8A-4147-A177-3AD203B41FA5}">
                      <a16:colId xmlns:a16="http://schemas.microsoft.com/office/drawing/2014/main" val="378958271"/>
                    </a:ext>
                  </a:extLst>
                </a:gridCol>
                <a:gridCol w="3148323">
                  <a:extLst>
                    <a:ext uri="{9D8B030D-6E8A-4147-A177-3AD203B41FA5}">
                      <a16:colId xmlns:a16="http://schemas.microsoft.com/office/drawing/2014/main" val="17354831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07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ARIMA (SARIMA)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Excellent at capturing weekly seasonality and short-term dynamics.</a:t>
                      </a:r>
                    </a:p>
                    <a:p>
                      <a:r>
                        <a:rPr lang="en-US" dirty="0"/>
                        <a:t>RMSE ≈ 0.62 m³/day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Best-performing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01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Learns nonlinear patterns, robust to noise</a:t>
                      </a:r>
                    </a:p>
                    <a:p>
                      <a:r>
                        <a:rPr lang="en-US" dirty="0"/>
                        <a:t>RMSE typically 0.75–0.95 m³/day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Underperforms compared to ARIMA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139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814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4992-0A0F-D9F4-167F-227558999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&amp;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3DE32-E192-A3DB-776D-4F82CC03D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warehouse should expect </a:t>
            </a:r>
            <a:r>
              <a:rPr lang="en-US" b="1" dirty="0"/>
              <a:t>regular weekly fluctuations</a:t>
            </a:r>
            <a:r>
              <a:rPr lang="en-US" dirty="0"/>
              <a:t> in space usage. </a:t>
            </a:r>
            <a:r>
              <a:rPr lang="en-US" b="1" dirty="0"/>
              <a:t>Smartphones</a:t>
            </a:r>
            <a:r>
              <a:rPr lang="en-US" dirty="0"/>
              <a:t> are the single most important category for peak capacity planning.</a:t>
            </a:r>
          </a:p>
          <a:p>
            <a:r>
              <a:rPr lang="en-US" dirty="0"/>
              <a:t>Forecasts help identify </a:t>
            </a:r>
            <a:r>
              <a:rPr lang="en-US" b="1" dirty="0"/>
              <a:t>high-demand periods</a:t>
            </a:r>
            <a:r>
              <a:rPr lang="en-US" dirty="0"/>
              <a:t> early, allowing better resource allocation.</a:t>
            </a:r>
          </a:p>
          <a:p>
            <a:r>
              <a:rPr lang="en-US" dirty="0"/>
              <a:t>Category-level forecasts allow teams to plan </a:t>
            </a:r>
            <a:r>
              <a:rPr lang="en-US" b="1" dirty="0"/>
              <a:t>which zones</a:t>
            </a:r>
            <a:r>
              <a:rPr lang="en-US" dirty="0"/>
              <a:t> will need the most space in upcoming weeks.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121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9A21-E046-C48B-038C-061A4EC1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</a:t>
            </a:r>
            <a:r>
              <a:rPr lang="en-US" baseline="0" dirty="0"/>
              <a:t> Improvements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43462-FDF5-A30B-1FBF-AFC804D66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Expand the Dataset (More Historical Data)</a:t>
            </a:r>
          </a:p>
          <a:p>
            <a:pPr rtl="0" eaLnBrk="1" latinLnBrk="0" hangingPunct="1"/>
            <a:r>
              <a:rPr lang="en-US" sz="20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Add Key External Predictors (ARIMAX or ML Models)</a:t>
            </a:r>
            <a:endParaRPr lang="en-US" sz="2000" dirty="0">
              <a:effectLst/>
            </a:endParaRPr>
          </a:p>
          <a:p>
            <a:pPr rtl="0" eaLnBrk="1" latinLnBrk="0" hangingPunct="1"/>
            <a:r>
              <a:rPr lang="en-US" sz="20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Integrate Machine Learning Models</a:t>
            </a:r>
            <a:endParaRPr lang="en-US" dirty="0"/>
          </a:p>
          <a:p>
            <a:endParaRPr 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6CB378B-A4C4-726E-6037-1D5F15EAA6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119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bstract design">
            <a:extLst>
              <a:ext uri="{FF2B5EF4-FFF2-40B4-BE49-F238E27FC236}">
                <a16:creationId xmlns:a16="http://schemas.microsoft.com/office/drawing/2014/main" id="{6D363037-1741-4470-A023-883E2FFD58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8308" r="6818" b="2872"/>
          <a:stretch/>
        </p:blipFill>
        <p:spPr>
          <a:xfrm flipH="1">
            <a:off x="0" y="10"/>
            <a:ext cx="12191980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70C361B-D32E-42E0-A41E-86C3D9AC8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18E9D62-7BA3-4D5E-8915-0D0E8661E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679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84036_DIGITAL ION DESIGN_SL_V1.pptx" id="{AD58A1CE-E9E9-4C2E-83A0-65FD4522F93A}" vid="{1E9553B9-AA04-4A15-9836-1E06682578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16958A-754B-4396-9457-FD7A427A3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0393A-FEC6-4A44-9E4A-6EA49F1F7D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8C88F1-1664-415F-AFCE-F6CF4580981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1955</TotalTime>
  <Words>504</Words>
  <Application>Microsoft Office PowerPoint</Application>
  <PresentationFormat>Widescreen</PresentationFormat>
  <Paragraphs>104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Cambria Math</vt:lpstr>
      <vt:lpstr>Century Gothic</vt:lpstr>
      <vt:lpstr>Wingdings 3</vt:lpstr>
      <vt:lpstr>Ion</vt:lpstr>
      <vt:lpstr>Intelligent Inventory</vt:lpstr>
      <vt:lpstr>Project Background</vt:lpstr>
      <vt:lpstr>Why Forecasting Is Important</vt:lpstr>
      <vt:lpstr>Data &amp; Quality</vt:lpstr>
      <vt:lpstr>Key variables</vt:lpstr>
      <vt:lpstr>MODEL &amp; METHODOLOGY</vt:lpstr>
      <vt:lpstr>RESULTS &amp; INTERPRETATION</vt:lpstr>
      <vt:lpstr>Stock vs. Space Correlation</vt:lpstr>
      <vt:lpstr>Total Space – Non-Stationarity</vt:lpstr>
      <vt:lpstr>Augmented Dickey–Fuller (ADF) test</vt:lpstr>
      <vt:lpstr>Total Space with difference</vt:lpstr>
      <vt:lpstr>SARIMA Model</vt:lpstr>
      <vt:lpstr>SARIMA Model</vt:lpstr>
      <vt:lpstr>VAR Model</vt:lpstr>
      <vt:lpstr>VAR Model</vt:lpstr>
      <vt:lpstr>LSTM vs ARIMA</vt:lpstr>
      <vt:lpstr>OPERATIONAL &amp; BUSINESS</vt:lpstr>
      <vt:lpstr>Future Improvements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Edwin Quijano</dc:creator>
  <cp:lastModifiedBy>Edwin Quijano</cp:lastModifiedBy>
  <cp:revision>2</cp:revision>
  <dcterms:created xsi:type="dcterms:W3CDTF">2025-12-02T19:40:51Z</dcterms:created>
  <dcterms:modified xsi:type="dcterms:W3CDTF">2025-12-09T22:21:34Z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